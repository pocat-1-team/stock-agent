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2aa64f7b234a49" /><Relationship Type="http://schemas.openxmlformats.org/officeDocument/2006/relationships/extended-properties" Target="/docProps/app.xml" Id="R0be6a03c4b27445d" /><Relationship Type="http://schemas.openxmlformats.org/officeDocument/2006/relationships/officeDocument" Target="/ppt/presentation.xml" Id="R1207473b64854b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02195046494da0"/>
  </p:sldMasterIdLst>
  <p:notesMasterIdLst>
    <p:notesMasterId xmlns:r="http://schemas.openxmlformats.org/officeDocument/2006/relationships" r:id="Rec9efdd46bcd430e"/>
  </p:notesMasterIdLst>
  <p:sldIdLst>
    <p:sldId xmlns:r="http://schemas.openxmlformats.org/officeDocument/2006/relationships" id="256" r:id="R7361220987eb4062"/>
    <p:sldId xmlns:r="http://schemas.openxmlformats.org/officeDocument/2006/relationships" id="257" r:id="R3d1223e211d643c9"/>
    <p:sldId xmlns:r="http://schemas.openxmlformats.org/officeDocument/2006/relationships" id="258" r:id="R7cee201eab214b9c"/>
    <p:sldId xmlns:r="http://schemas.openxmlformats.org/officeDocument/2006/relationships" id="259" r:id="Rc4be6aa83e6d4770"/>
    <p:sldId xmlns:r="http://schemas.openxmlformats.org/officeDocument/2006/relationships" id="260" r:id="Rd20a9b0802044e90"/>
    <p:sldId xmlns:r="http://schemas.openxmlformats.org/officeDocument/2006/relationships" id="261" r:id="R0a2660ecb6e64113"/>
    <p:sldId xmlns:r="http://schemas.openxmlformats.org/officeDocument/2006/relationships" id="262" r:id="R86f47cc443794ef4"/>
    <p:sldId xmlns:r="http://schemas.openxmlformats.org/officeDocument/2006/relationships" id="263" r:id="R5affa26bcfc64495"/>
    <p:sldId xmlns:r="http://schemas.openxmlformats.org/officeDocument/2006/relationships" id="264" r:id="R277e33a97bd74356"/>
    <p:sldId xmlns:r="http://schemas.openxmlformats.org/officeDocument/2006/relationships" id="265" r:id="Rb6d69dae6b1a410b"/>
    <p:sldId xmlns:r="http://schemas.openxmlformats.org/officeDocument/2006/relationships" id="266" r:id="Rfe66ed1c34224c07"/>
    <p:sldId xmlns:r="http://schemas.openxmlformats.org/officeDocument/2006/relationships" id="267" r:id="R1a2f5958ec4c462a"/>
    <p:sldId xmlns:r="http://schemas.openxmlformats.org/officeDocument/2006/relationships" id="268" r:id="Ra6b1debe1f8a48e6"/>
    <p:sldId xmlns:r="http://schemas.openxmlformats.org/officeDocument/2006/relationships" id="269" r:id="R163795c313ab48b1"/>
    <p:sldId xmlns:r="http://schemas.openxmlformats.org/officeDocument/2006/relationships" id="270" r:id="Receef1ed68474ed4"/>
    <p:sldId xmlns:r="http://schemas.openxmlformats.org/officeDocument/2006/relationships" id="271" r:id="Rfe76faeb2d184d29"/>
    <p:sldId xmlns:r="http://schemas.openxmlformats.org/officeDocument/2006/relationships" id="272" r:id="R22a7562074af445d"/>
    <p:sldId xmlns:r="http://schemas.openxmlformats.org/officeDocument/2006/relationships" id="273" r:id="R5206f37050d2446a"/>
    <p:sldId xmlns:r="http://schemas.openxmlformats.org/officeDocument/2006/relationships" id="274" r:id="R41b9aff2d3604d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019c4a2afa4f61" /><Relationship Type="http://schemas.openxmlformats.org/officeDocument/2006/relationships/slideMaster" Target="/ppt/slideMasters/slideMaster1.xml" Id="R9d02195046494da0" /><Relationship Type="http://schemas.openxmlformats.org/officeDocument/2006/relationships/notesMaster" Target="/ppt/notesMasters/notesMaster1.xml" Id="Rec9efdd46bcd430e" /><Relationship Type="http://schemas.openxmlformats.org/officeDocument/2006/relationships/presProps" Target="/ppt/presProps.xml" Id="R83f7ef601c5141b8" /><Relationship Type="http://schemas.openxmlformats.org/officeDocument/2006/relationships/tableStyles" Target="/ppt/tableStyles.xml" Id="R6b7b883aa5a9464d" /><Relationship Type="http://schemas.openxmlformats.org/officeDocument/2006/relationships/slide" Target="/ppt/slides/slide1.xml" Id="R7361220987eb4062" /><Relationship Type="http://schemas.openxmlformats.org/officeDocument/2006/relationships/slide" Target="/ppt/slides/slide2.xml" Id="R3d1223e211d643c9" /><Relationship Type="http://schemas.openxmlformats.org/officeDocument/2006/relationships/slide" Target="/ppt/slides/slide3.xml" Id="R7cee201eab214b9c" /><Relationship Type="http://schemas.openxmlformats.org/officeDocument/2006/relationships/slide" Target="/ppt/slides/slide4.xml" Id="Rc4be6aa83e6d4770" /><Relationship Type="http://schemas.openxmlformats.org/officeDocument/2006/relationships/slide" Target="/ppt/slides/slide5.xml" Id="Rd20a9b0802044e90" /><Relationship Type="http://schemas.openxmlformats.org/officeDocument/2006/relationships/slide" Target="/ppt/slides/slide6.xml" Id="R0a2660ecb6e64113" /><Relationship Type="http://schemas.openxmlformats.org/officeDocument/2006/relationships/slide" Target="/ppt/slides/slide7.xml" Id="R86f47cc443794ef4" /><Relationship Type="http://schemas.openxmlformats.org/officeDocument/2006/relationships/slide" Target="/ppt/slides/slide8.xml" Id="R5affa26bcfc64495" /><Relationship Type="http://schemas.openxmlformats.org/officeDocument/2006/relationships/slide" Target="/ppt/slides/slide9.xml" Id="R277e33a97bd74356" /><Relationship Type="http://schemas.openxmlformats.org/officeDocument/2006/relationships/slide" Target="/ppt/slides/slide10.xml" Id="Rb6d69dae6b1a410b" /><Relationship Type="http://schemas.openxmlformats.org/officeDocument/2006/relationships/slide" Target="/ppt/slides/slide11.xml" Id="Rfe66ed1c34224c07" /><Relationship Type="http://schemas.openxmlformats.org/officeDocument/2006/relationships/slide" Target="/ppt/slides/slide12.xml" Id="R1a2f5958ec4c462a" /><Relationship Type="http://schemas.openxmlformats.org/officeDocument/2006/relationships/slide" Target="/ppt/slides/slide13.xml" Id="Ra6b1debe1f8a48e6" /><Relationship Type="http://schemas.openxmlformats.org/officeDocument/2006/relationships/slide" Target="/ppt/slides/slide14.xml" Id="R163795c313ab48b1" /><Relationship Type="http://schemas.openxmlformats.org/officeDocument/2006/relationships/slide" Target="/ppt/slides/slide15.xml" Id="Receef1ed68474ed4" /><Relationship Type="http://schemas.openxmlformats.org/officeDocument/2006/relationships/slide" Target="/ppt/slides/slide16.xml" Id="Rfe76faeb2d184d29" /><Relationship Type="http://schemas.openxmlformats.org/officeDocument/2006/relationships/slide" Target="/ppt/slides/slide17.xml" Id="R22a7562074af445d" /><Relationship Type="http://schemas.openxmlformats.org/officeDocument/2006/relationships/slide" Target="/ppt/slides/slide18.xml" Id="R5206f37050d2446a" /><Relationship Type="http://schemas.openxmlformats.org/officeDocument/2006/relationships/slide" Target="/ppt/slides/slide19.xml" Id="R41b9aff2d360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403f21f66c49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51403b516e429b" /><Relationship Type="http://schemas.openxmlformats.org/officeDocument/2006/relationships/notesMaster" Target="/ppt/notesMasters/notesMaster1.xml" Id="R9a4b10554d7a43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60c5cb3b854183" /><Relationship Type="http://schemas.openxmlformats.org/officeDocument/2006/relationships/notesMaster" Target="/ppt/notesMasters/notesMaster1.xml" Id="Raf2a72c6917443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084841a9914e70" /><Relationship Type="http://schemas.openxmlformats.org/officeDocument/2006/relationships/notesMaster" Target="/ppt/notesMasters/notesMaster1.xml" Id="Rb19991bb37f741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491d7db00d40ba" /><Relationship Type="http://schemas.openxmlformats.org/officeDocument/2006/relationships/notesMaster" Target="/ppt/notesMasters/notesMaster1.xml" Id="Rd814905bfd5647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0d02be372f421d" /><Relationship Type="http://schemas.openxmlformats.org/officeDocument/2006/relationships/notesMaster" Target="/ppt/notesMasters/notesMaster1.xml" Id="R4ec5dd616f824d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31b35324dd4dbd" /><Relationship Type="http://schemas.openxmlformats.org/officeDocument/2006/relationships/notesMaster" Target="/ppt/notesMasters/notesMaster1.xml" Id="R64832b384f464e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607122396449b2" /><Relationship Type="http://schemas.openxmlformats.org/officeDocument/2006/relationships/notesMaster" Target="/ppt/notesMasters/notesMaster1.xml" Id="R5268520184584f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8f23e24e59444e" /><Relationship Type="http://schemas.openxmlformats.org/officeDocument/2006/relationships/notesMaster" Target="/ppt/notesMasters/notesMaster1.xml" Id="R99ba01f345144a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685c2003cb4584" /><Relationship Type="http://schemas.openxmlformats.org/officeDocument/2006/relationships/notesMaster" Target="/ppt/notesMasters/notesMaster1.xml" Id="R27bc3b0702c047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9fec01490940c0" /><Relationship Type="http://schemas.openxmlformats.org/officeDocument/2006/relationships/notesMaster" Target="/ppt/notesMasters/notesMaster1.xml" Id="R077436c24c394b3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76d3bea5e1430b" /><Relationship Type="http://schemas.openxmlformats.org/officeDocument/2006/relationships/notesMaster" Target="/ppt/notesMasters/notesMaster1.xml" Id="R85a9a670f33f48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cd2f56c8fe4233" /><Relationship Type="http://schemas.openxmlformats.org/officeDocument/2006/relationships/notesMaster" Target="/ppt/notesMasters/notesMaster1.xml" Id="Rcd55ffb37c6e42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f0b8c81a1d4174" /><Relationship Type="http://schemas.openxmlformats.org/officeDocument/2006/relationships/notesMaster" Target="/ppt/notesMasters/notesMaster1.xml" Id="R88a0ec88cba842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ff427f110b4598" /><Relationship Type="http://schemas.openxmlformats.org/officeDocument/2006/relationships/notesMaster" Target="/ppt/notesMasters/notesMaster1.xml" Id="R90ed43f85d5645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f4ba4dbd994940" /><Relationship Type="http://schemas.openxmlformats.org/officeDocument/2006/relationships/notesMaster" Target="/ppt/notesMasters/notesMaster1.xml" Id="Rf500c017d42b4b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0b40d7b4854a15" /><Relationship Type="http://schemas.openxmlformats.org/officeDocument/2006/relationships/notesMaster" Target="/ppt/notesMasters/notesMaster1.xml" Id="Recccc8597dbe4dd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f6430d51a994c71" /><Relationship Type="http://schemas.openxmlformats.org/officeDocument/2006/relationships/notesMaster" Target="/ppt/notesMasters/notesMaster1.xml" Id="R72fb75f8bb5b438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be3f862e4ed44a0" /><Relationship Type="http://schemas.openxmlformats.org/officeDocument/2006/relationships/notesMaster" Target="/ppt/notesMasters/notesMaster1.xml" Id="R80cca60173cb4e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5a3d8701ab456b" /><Relationship Type="http://schemas.openxmlformats.org/officeDocument/2006/relationships/notesMaster" Target="/ppt/notesMasters/notesMaster1.xml" Id="Red21370395c547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문장은 투자 판단 자동화가 아니라 분석 신호를 구조화하는 시스템이라고 못 박는다.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역할을 앞에서 짚고, 이후 Agent 슬라이드마다 담당 구현과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출처는 본문에 크게 노출하지 않고 Q&amp;A 대응용으로만 기억한다.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수익률 수치는 표본 분석 기준이므로 숫자보다 문제 구조를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stock-agent는 아이디어가 아니라 현재 구현한 MVP라는 표현을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악마의 대변인이라는 표현 대신 Guardrail과 전문 Agent 관점 분리라고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7장은 레이어, 8장은 11노드 흐름으로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문서는 docs/architecture/pipeline_11node_groundtruth.md다.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LangGraph Send API fan-out의 이유를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Quant는 '정확한 수치 계산 담당'이라는 한 문장으로 빠르게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30초 버전: 뉴스 수집, 임베딩 저장, Hybrid 검색, reranker, evidence/risk 생성 순서만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MCP는 '외부 데이터 경로를 표준 인터페이스로 노출한 점' 정도만 짚는다.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요청에 macro를 돌리는 게 아니라 조건부 실행이라는 점을 강조한다.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투자 권유가 아니라 포트폴리오 맥락화된 분석 신호라고 반복한다.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심사위원에게 금융 도메인에서 안전 검증이 왜 필요한지 짧게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슬라이드에서 로컬 시연 영상으로 전환한다. 저장소에는 아직 영상 파일이 없으므로 HTML/PPTX에는 포스터형 슬라이드만 넣었다.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여기서는 구현 차별점만 말하고 경쟁사 비교를 반복하지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상업성은 '개인용 PB-lite'와 'B2B 분석 모듈' 두 축으로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문장은 천천히 말하고 Q&amp;A로 넘긴다.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33d9f209fb41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991e9f5c284ea3" /><Relationship Type="http://schemas.openxmlformats.org/officeDocument/2006/relationships/slideLayout" Target="/ppt/slideLayouts/slideLayout1.xml" Id="Re45022fd82cf4e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5022fd82cf4e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d3e7a17284254" /><Relationship Type="http://schemas.openxmlformats.org/officeDocument/2006/relationships/image" Target="/ppt/media/image.png" Id="R5271b2d9355b4376" /><Relationship Type="http://schemas.openxmlformats.org/officeDocument/2006/relationships/notesSlide" Target="/ppt/notesSlides/notesSlide1.xml" Id="Rfd9f71c54ed646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09b14031543db" /><Relationship Type="http://schemas.openxmlformats.org/officeDocument/2006/relationships/notesSlide" Target="/ppt/notesSlides/notesSlide2.xml" Id="Rbeaaa2bea72942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5002cb578426f" /><Relationship Type="http://schemas.openxmlformats.org/officeDocument/2006/relationships/notesSlide" Target="/ppt/notesSlides/notesSlide3.xml" Id="Rffc947a040314e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64f04454f43d2" /><Relationship Type="http://schemas.openxmlformats.org/officeDocument/2006/relationships/notesSlide" Target="/ppt/notesSlides/notesSlide4.xml" Id="Re1528cf0a01c4d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92e22470d478d" /><Relationship Type="http://schemas.openxmlformats.org/officeDocument/2006/relationships/notesSlide" Target="/ppt/notesSlides/notesSlide5.xml" Id="R8b491c819c5d47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25b468e174292" /><Relationship Type="http://schemas.openxmlformats.org/officeDocument/2006/relationships/notesSlide" Target="/ppt/notesSlides/notesSlide6.xml" Id="Rf0aa1699ff2247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6a8fc2ee14ff1" /><Relationship Type="http://schemas.openxmlformats.org/officeDocument/2006/relationships/image" Target="/ppt/media/image2.png" Id="Rd85eee9e9b504ada" /><Relationship Type="http://schemas.openxmlformats.org/officeDocument/2006/relationships/notesSlide" Target="/ppt/notesSlides/notesSlide7.xml" Id="R0ada85f7fe8848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074abb1a0424e" /><Relationship Type="http://schemas.openxmlformats.org/officeDocument/2006/relationships/notesSlide" Target="/ppt/notesSlides/notesSlide8.xml" Id="R4667a7f625914f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f48c48a72490a" /><Relationship Type="http://schemas.openxmlformats.org/officeDocument/2006/relationships/notesSlide" Target="/ppt/notesSlides/notesSlide9.xml" Id="Rf3d7140ba03a49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fb17aade0438a" /><Relationship Type="http://schemas.openxmlformats.org/officeDocument/2006/relationships/notesSlide" Target="/ppt/notesSlides/notesSlide10.xml" Id="R8e58bd5fed0341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4e3ee2f554592" /><Relationship Type="http://schemas.openxmlformats.org/officeDocument/2006/relationships/notesSlide" Target="/ppt/notesSlides/notesSlide11.xml" Id="R63da1a7b6c9c4f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db74903124990" /><Relationship Type="http://schemas.openxmlformats.org/officeDocument/2006/relationships/notesSlide" Target="/ppt/notesSlides/notesSlide12.xml" Id="R8f40f6e0e2df46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4daa19c97403b" /><Relationship Type="http://schemas.openxmlformats.org/officeDocument/2006/relationships/notesSlide" Target="/ppt/notesSlides/notesSlide13.xml" Id="R8b229e1e27a64f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b597775534134" /><Relationship Type="http://schemas.openxmlformats.org/officeDocument/2006/relationships/notesSlide" Target="/ppt/notesSlides/notesSlide14.xml" Id="R981e00c3ef4045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3498ceb094990" /><Relationship Type="http://schemas.openxmlformats.org/officeDocument/2006/relationships/notesSlide" Target="/ppt/notesSlides/notesSlide15.xml" Id="R50cebdfb091f4e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32eaec3844683" /><Relationship Type="http://schemas.openxmlformats.org/officeDocument/2006/relationships/image" Target="/ppt/media/image.jpeg" Id="Rc696108a691a4310" /><Relationship Type="http://schemas.openxmlformats.org/officeDocument/2006/relationships/image" Target="/ppt/media/image2.jpeg" Id="Rb5c902fc0300408c" /><Relationship Type="http://schemas.openxmlformats.org/officeDocument/2006/relationships/notesSlide" Target="/ppt/notesSlides/notesSlide16.xml" Id="Ra279952a36d848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9bf0312ae4486" /><Relationship Type="http://schemas.openxmlformats.org/officeDocument/2006/relationships/notesSlide" Target="/ppt/notesSlides/notesSlide17.xml" Id="R248b2f574f5a46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616050a854ad3" /><Relationship Type="http://schemas.openxmlformats.org/officeDocument/2006/relationships/notesSlide" Target="/ppt/notesSlides/notesSlide18.xml" Id="Ra004af1bf3f64a5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d4b3da3b84f9e" /><Relationship Type="http://schemas.openxmlformats.org/officeDocument/2006/relationships/notesSlide" Target="/ppt/notesSlides/notesSlide19.xml" Id="Re5b48859bde34e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ft-band">
            <a:extLst xmlns:a="http://schemas.openxmlformats.org/drawingml/2006/main">
              <a:ext uri="{FF2B5EF4-FFF2-40B4-BE49-F238E27FC236}">
                <a16:creationId xmlns:a16="http://schemas.microsoft.com/office/drawing/2014/main" id="{E8BCE2AC-CEC2-4E38-AA25-D020C19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surface">
            <a:extLst xmlns:a="http://schemas.openxmlformats.org/drawingml/2006/main">
              <a:ext uri="{FF2B5EF4-FFF2-40B4-BE49-F238E27FC236}">
                <a16:creationId xmlns:a16="http://schemas.microsoft.com/office/drawing/2014/main" id="{0A41AFA0-002F-4BAE-A7E1-65E48DCB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4574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 final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77388EC-EF38-43B8-AE07-1BC96223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9549FE8-BC38-4610-AD74-97E57907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5143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rPr>
              <a:t>개인투자자의 의사결정을 구조화하는 멀티에이전트 분석 보조 시스템</a:t>
            </a:r>
          </a:p>
        </p:txBody>
      </p:sp>
      <p:sp>
        <p:nvSpPr>
          <p:cNvPr id="5" name="surface">
            <a:extLst xmlns:a="http://schemas.openxmlformats.org/drawingml/2006/main">
              <a:ext uri="{FF2B5EF4-FFF2-40B4-BE49-F238E27FC236}">
                <a16:creationId xmlns:a16="http://schemas.microsoft.com/office/drawing/2014/main" id="{B3655BF2-7650-4B0B-BC9C-3D892B8B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55625FD-0116-4693-BD56-09F5C112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480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투자성향과 보유 포트폴리오를 함께 반영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B85FAB6D-2F81-455F-8F58-B6B9E0B5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C30C00D-4293-4AEC-A2EB-73879593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6242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정량·정성·Peer·거시 데이터를 Agent가 분리 분석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ADC91B5C-4418-412B-8EE8-B8B8478A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76B6B81-7891-4765-B2D6-E08B3419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767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권유가 아닌 근거 기반 분석 신호 제공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45AD649-85EA-45ED-8F22-1E0329BD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626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2026-06-27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1b2d9355b4376"/>
          <a:srcRect xmlns:a="http://schemas.openxmlformats.org/drawingml/2006/main" l="24803" t="0" r="248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514350"/>
            <a:ext cx="5219700" cy="5829300"/>
          </a:xfrm>
          <a:prstGeom xmlns:a="http://schemas.openxmlformats.org/drawingml/2006/main" prst="roundRect">
            <a:avLst>
              <a:gd name="adj" fmla="val 4380"/>
            </a:avLst>
          </a:prstGeom>
        </p:spPr>
      </p:pic>
    </p:spTree>
    <p:extLst>
      <p:ext uri="{BB962C8B-B14F-4D97-AF65-F5344CB8AC3E}">
        <p14:creationId xmlns:p14="http://schemas.microsoft.com/office/powerpoint/2010/main" val="9108998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A49F2222-3F2E-421F-8FFF-B55E933D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609D7D24-3384-4FB7-8E19-FAD0194C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4F5061BC-D1FF-49F8-B617-52170E1F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D3FD7A9-ADAC-483A-891A-1CC52A1F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6CF1EFD-D2CF-44D9-B955-88C3157D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팀 역할: Agent별 책임을 나눠 실제 구현까지 연결했다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4EB5E2B-B007-4B0E-8822-2A7734E2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PR/README 기반 역할 요약과 마지막 메시지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29B7905-1367-4D94-AEAC-19B35877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645C71B-33A6-499D-BB2B-2EFA3595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287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이동원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1444654-DBDF-42D0-8504-AFDC7C9A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192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PM·문서/설계·Competitor·평가/CI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8EE7A925-3B7A-470B-BB25-B1B37E05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D23F710-2074-4D81-8273-0A6B7504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145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백형준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B0384FC-8C3A-4089-B6D7-4452660F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050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UI·투자성향 intake·LangGraph streaming·LLM 연동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8C3FC046-D00F-4F7F-8AB5-C7601B56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CF1A974-AEEF-4328-9FF1-16FCF3A9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03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윤수정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89F2B6B-68D4-4009-A561-D3E7D241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Quant·Qual 공시·Guardrail·출력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8F64AE52-B81A-4062-AED8-9230B644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5CCAE29-DEBA-45D7-9A0D-DB276029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861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문수빈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D2D629D-9227-42EA-A76A-84091468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766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Macro·Supabase·LangGraph fan-out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3515777A-18DD-4354-91F3-B0332941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06BA719-CBE4-4F71-86F5-DFDA257C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719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김도예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ECDE9C3E-D128-4F26-851C-33475781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624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뉴스 크롤러·RAG 임베딩·Qual Hybrid 검색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4FC0F213-C0E0-4C6B-8096-68DB685E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D7C41E4-8E71-4BFA-99BD-3E20789E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816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3500D526-498C-43AF-998D-8E3F7045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435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발표는 팀 역할 → 문제 정의 → Agent 구조 → 시연 영상 → 사업성과 한계 순서로 빠르게 전개한다.</a:t>
            </a:r>
          </a:p>
        </p:txBody>
      </p:sp>
    </p:spTree>
    <p:extLst>
      <p:ext uri="{BB962C8B-B14F-4D97-AF65-F5344CB8AC3E}">
        <p14:creationId xmlns:p14="http://schemas.microsoft.com/office/powerpoint/2010/main" val="1207108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EBC8E5D-E78C-4A1D-A9B7-91E1B776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A2057C56-B696-455B-B346-F505EE00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46ACDE4-2D11-4734-9F0E-3089BEB4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50E9351-171C-4417-844D-4C34E447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179F6F8-D517-459E-9CF5-F1E69BAA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개인투자 시장은 커졌지만 판단 부담도 커졌다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F966265-ADB5-4AF0-A5DB-491D788F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시장 확대와 판단 복잡도 상승을 한 장에 압축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06D6D17-39C0-47BE-AC64-3C53B7BB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323F8DEA-E880-44E9-81CC-85A744F7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21C66C1-34D7-454B-9222-6F6F8C6B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개인투자자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597858C-9286-4071-8069-75C94861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1,442만 명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FF9D4F6-9093-4DE3-913C-C1BBFFC6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2025년 말 개인 기준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B4811E1B-B37A-4BDA-AE8C-CA84234C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3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3B38CE43-7984-43DF-B7DC-43F9C0AA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2E95926-6DC0-4641-88C2-B54ECB10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주식거래 활동계좌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8B6C72E-4595-46E2-8F7B-FD244270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1억 500만 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1C4DDB7-4BC8-454D-A852-1E937DB6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2026.04.29 금융투자협회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D96CCEDE-4AC2-4A04-87E5-120971EA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B0E5DF1C-BCD9-4CA1-AA10-FC679099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F70ED39F-9042-4AC6-8AD7-CAF4142D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 MTS 거래 비중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271D0DC-9A3E-45EB-A4D8-AC4A26B9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65.7%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183D40F-BE02-4733-AC04-86E146D7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2026년 1~5월 한국거래소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19FEC3DC-E9FE-4943-AFF9-0AC2E06D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F1991DB-0EC7-4AC4-8953-B9AD71AE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01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E03D0B06-540E-474E-9C06-37B30321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720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투자는 대중화되었지만, 판단은 더 빠르고 복잡한 모바일 환경으로 이동했다.</a:t>
            </a:r>
          </a:p>
        </p:txBody>
      </p:sp>
    </p:spTree>
    <p:extLst>
      <p:ext uri="{BB962C8B-B14F-4D97-AF65-F5344CB8AC3E}">
        <p14:creationId xmlns:p14="http://schemas.microsoft.com/office/powerpoint/2010/main" val="21254525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1F679637-129C-4961-8368-898AE576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AD83266D-C634-4CA5-84B7-BC35BA36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D997F0A-AD88-45D5-A077-0D01C151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646CA69-6A97-4CDB-A871-B463F24F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141053B-A325-472C-A120-11170181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문제: 정보는 많지만 근거 있는 통합 판단은 어렵다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656FFA8-7ED9-48BB-A1E1-08098BF9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정보 과잉, 모바일 즉시성, 낮은 맥락화가 함께 만든 의사결정 공백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BC05B77F-265F-41BF-AF29-E465A5BB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6A70D55C-324B-4B77-B26E-A88B8944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FBDFC16-2397-459D-A9DA-254666F2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A632754-8532-4A25-BC2E-D2C2B671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526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1~3종목 집중투자 비중 59.7%: 포트폴리오 리스크가 개인에게 집중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28AA7725-88DD-4E84-9821-F93CE3FF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8A13D88-6C9D-419B-939A-6269B69C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29178A9-7743-4F66-BDA0-6CB791AD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3546D33-E6AE-40DD-BB37-565144A6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194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디지털 금융이해력 59.3점: 모바일 금융 사용은 보편화됐지만 이해도는 부족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7425D8D8-45F2-4FA8-A6EB-5B8EC86B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F9C475D2-5F10-4F2A-9182-0927EF31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C0B860C-ED37-4671-8D25-53887535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274384E-E2B4-4CEE-8152-DDF1A8FE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862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 평균 수익률 부진: 흩어진 정보가 행동 편향을 줄여주지 못함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C1F914C4-E660-4A06-AE78-0999710D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9CFF809-4731-48F8-92ED-55400912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054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A9EB281-EED1-42A3-9127-06677B34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핵심 문제는 정보 부족이 아니라, 흩어진 정보를 내 포트폴리오 맥락에서 해석하는 능력의 부족이다.</a:t>
            </a:r>
          </a:p>
        </p:txBody>
      </p:sp>
    </p:spTree>
    <p:extLst>
      <p:ext uri="{BB962C8B-B14F-4D97-AF65-F5344CB8AC3E}">
        <p14:creationId xmlns:p14="http://schemas.microsoft.com/office/powerpoint/2010/main" val="8407314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89A22D8-A09A-48D3-9918-A291CBEC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62B8695D-BC6E-4097-BAD1-5CB2ECAE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BBE6B69-8406-4626-B176-F45B9A35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B0A24DB-C886-4F37-9B61-102D4BD7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8689804-B64B-47E8-AE43-359E5649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기존 대안은 한 가지 축만 해결한다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1F0F20C-CF17-421B-8F1D-C263299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각 대안은 강점이 있지만 세 공백을 동시에 닫지는 못함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1562100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5450"/>
                <a:gridCol w="1352550"/>
                <a:gridCol w="1352550"/>
                <a:gridCol w="1352550"/>
                <a:gridCol w="5067300"/>
              </a:tblGrid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대안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멀티 관점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 검증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증권사 MTS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정보는 많지만 종합 판단은 사용자 몫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로보어드바이저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자산배분 중심, 개별 종목 근거 설명 약함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범용 LLM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실시간 데이터·출처·환각 통제 한계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stock-agent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맥락에서 Agent별 근거를 합성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</a:tr>
            </a:tbl>
          </a:graphicData>
        </a:graphic>
      </p:graphicFrame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1A455E82-90B0-4EAE-A558-36BA39BF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C602960-629E-49AC-95CD-CD17DA0F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29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539FFB9-91D9-41AB-91A8-B4B96753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91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시장 공백은 내 보유 종목 기준으로 여러 근거를 검증해주는 분석 보조다.</a:t>
            </a:r>
          </a:p>
        </p:txBody>
      </p:sp>
    </p:spTree>
    <p:extLst>
      <p:ext uri="{BB962C8B-B14F-4D97-AF65-F5344CB8AC3E}">
        <p14:creationId xmlns:p14="http://schemas.microsoft.com/office/powerpoint/2010/main" val="2164273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AD0EED02-8F86-4B37-86A0-D942F808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0A52561C-B91B-444C-806E-45690250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EE3153E2-CAE5-4E3D-B6B0-1D57C9CF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E32FF2E-7A79-4458-91D1-6E5F4AED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2309D27-39F2-4D0A-B8D1-98FE844C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왜 멀티 Agent인가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8500231-22E8-4FB2-9C9B-B3D011A2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LLM 하나가 아니라 역할 분리, 근거 통합, 안전검증을 분리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49AD1183-29FC-457A-90A3-0EF94F23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74A8AA34-150D-4E6F-9E6E-FDB53F77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DC1C91F-B4A1-4857-A333-38CC019D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444F5FF-CF45-484E-9747-D9FD994C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계산과 해석 분리: 정량 수치는 Tool/DB가 만들고 LLM은 설명과 합성에 집중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15EADC18-3FE4-4CF2-92F6-F9C6CE17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250582D0-1BC2-4441-8FB7-97769063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6599D10-4B68-4D89-8FB6-E47268BF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D55DF57-62C6-411F-97AA-9B4B5974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관점 분리: Quant·Qual·Peer·Macro가 서로 다른 실패 범위와 책임을 가짐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9D9D3657-48EB-4946-BEA6-85EEC178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E91736EE-B952-4DB1-AD63-5D48C62A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D18A5A8-8B3B-4436-A1BA-161E057C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F26DC1E-818D-420B-A0B3-591EF6D1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부분 실패 허용: 한 Agent가 실패해도 fallback과 warning으로 분석 흐름 유지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BE200C43-5F76-4DB6-BE3E-9121F58E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7D41956E-979E-4507-ABF5-3E456D5C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AFF8DB5-3C48-416E-8CD8-4065D9B4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C244919-3030-418B-B0B5-88BA3FE8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최종 안전 검증: Guardrail이 투자 권유, PII, 근거 부족 표현을 마지막에 점검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F67892F5-A939-4494-9A42-04E9EDC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DB4CD8D-C59C-4EE0-AA78-950E256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625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0A13F02A-A56A-443D-8D3A-344BF5F7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244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모델이 모든 판단을 말하는 구조보다, 역할을 나눠 계산·검색·합성·검증을 분리하는 구조가 더 설명 가능하다.</a:t>
            </a:r>
          </a:p>
        </p:txBody>
      </p:sp>
    </p:spTree>
    <p:extLst>
      <p:ext uri="{BB962C8B-B14F-4D97-AF65-F5344CB8AC3E}">
        <p14:creationId xmlns:p14="http://schemas.microsoft.com/office/powerpoint/2010/main" val="1356357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316400E-2835-4EBA-8826-003B75FF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085598CC-B4F9-405D-94F4-9D021A38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0CFC7C00-576D-4534-B59B-670D5DB1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0F07DD0-2DB2-4EF6-9DE6-B01034E9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49C8F4F-39C6-45FC-A7A3-6EB4ECDC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시스템 구성: UI, DB/RAG, LangGraph, 안전 검증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D7D9329-865A-46F0-9C2A-AC6C9483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README의 실제 구성도를 발표용으로 재사용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B26C1518-85A9-4832-AFD1-C5274F08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Streamlit UI에서 온보딩과 결과를 제공</a:t>
            </a:r>
          </a:p>
        </p:txBody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52827960-3AD0-4B98-AC69-A967974A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PostgreSQL + pgvector로 정형 데이터와 RAG 검색 통합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9E2E8788-DFF2-46DB-8F07-8C6C841A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 StateGraph와 Send API로 worker Agent 동적 fan-out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C2899BD1-0935-4079-B144-15B57778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LLM은 해석·합성에 사용하고, Guardrail은 규칙 기반으로 검증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eee9e9b504ada"/>
          <a:stretch xmlns:a="http://schemas.openxmlformats.org/drawingml/2006/main"/>
        </p:blipFill>
        <p:spPr>
          <a:xfrm xmlns:a="http://schemas.openxmlformats.org/drawingml/2006/main">
            <a:off x="5124450" y="1547454"/>
            <a:ext cx="6381750" cy="3591643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CA744EEA-AB3B-4E06-8CC7-3D485916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CFF8933-B828-4C90-A640-D17C9AE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10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F7A9448-EE76-4756-9D4F-8F49D48E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72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LangGraph가 worker Agent를 분리하고 DB/RAG/Guardrail이 근거와 안전성을 보완</a:t>
            </a:r>
          </a:p>
        </p:txBody>
      </p:sp>
    </p:spTree>
    <p:extLst>
      <p:ext uri="{BB962C8B-B14F-4D97-AF65-F5344CB8AC3E}">
        <p14:creationId xmlns:p14="http://schemas.microsoft.com/office/powerpoint/2010/main" val="6071807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67724187-5477-4365-BA32-290B55D6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1AD7F30C-0547-4E96-B810-EED85898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39B2A4FB-4CCA-40CF-A9B7-7DBCE96E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095C8DA-596C-4059-A7A2-596DBFE4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736B700-885C-4E0A-BCCD-FCDBC124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11노드 Agent 파이프라인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3AE7ABA-A16A-4DD4-BD67-CC3C5CF5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Classifier 이후 필요한 worker를 fan-out하고 Strategist에서 join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93E5216E-8055-4422-8B73-B1506AF1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740835C-7375-4022-AA95-B564CD44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61E19-DD78-4F63-91AA-13F2CB29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A3550E95-A260-4D78-A3B7-D7911439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38300"/>
            <a:ext cx="1504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A411F0D-959F-41E8-ABF9-D60B564E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781175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3A78A0BD-5304-4A5B-B2FA-A84E66F9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066F697-F55F-4D92-BD5F-ED32D573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262D36AA-5D63-43BE-8AF8-ABFBAD5E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3F2E1CA-9015-4CEF-8F54-7FF8593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DE6B02DE-2608-48CF-92D3-27A51739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3D56E84-E077-480B-BB35-AF8E7D9D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1DE0D05F-4391-4CA0-A94F-97F81964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9CAD9DB-FBF7-4115-BA9D-6E0D603A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9959F5F-9E12-4623-98D4-2E9CC3DD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43150"/>
            <a:ext cx="3009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parallel worker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D5A59-1591-447B-9B90-034DF40B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52650"/>
            <a:ext cx="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61ABED-5D1F-4707-862E-EE3490A3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476500"/>
            <a:ext cx="16287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586C05-9F60-48E7-A448-29DA01A6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76500"/>
            <a:ext cx="16097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FB012D-CE6D-4F9F-B44A-BA029AFD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76500"/>
            <a:ext cx="15906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2B5F9C-1A89-4E1A-BD06-B83CA712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476500"/>
            <a:ext cx="15716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9C4255D5-355A-4789-9298-08990DC1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57650"/>
            <a:ext cx="16192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ED51999-0908-4E2D-8ACC-55507A55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005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CD8227-9DD9-4A39-BADC-86BDA0C2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43300"/>
            <a:ext cx="0" cy="4000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6BB09A-1A52-495E-8010-9345E5CE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291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surface">
            <a:extLst xmlns:a="http://schemas.openxmlformats.org/drawingml/2006/main">
              <a:ext uri="{FF2B5EF4-FFF2-40B4-BE49-F238E27FC236}">
                <a16:creationId xmlns:a16="http://schemas.microsoft.com/office/drawing/2014/main" id="{7C8F6227-BF5E-460E-A462-DB838114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57650"/>
            <a:ext cx="20955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8CB50DDB-81FB-4253-B22D-E50BF155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00525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InvestmentAnalyst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2933DC-3B95-4CE8-BA28-7F58D0C8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229100"/>
            <a:ext cx="4381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urface">
            <a:extLst xmlns:a="http://schemas.openxmlformats.org/drawingml/2006/main">
              <a:ext uri="{FF2B5EF4-FFF2-40B4-BE49-F238E27FC236}">
                <a16:creationId xmlns:a16="http://schemas.microsoft.com/office/drawing/2014/main" id="{F1F4F8CD-96D1-4BB4-A380-2B61C267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57650"/>
            <a:ext cx="13716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DA600082-9090-4DA0-A123-36B39B28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20052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</a:t>
            </a:r>
          </a:p>
        </p:txBody>
      </p:sp>
      <p:sp>
        <p:nvSpPr>
          <p:cNvPr id="35" name="surface">
            <a:extLst xmlns:a="http://schemas.openxmlformats.org/drawingml/2006/main">
              <a:ext uri="{FF2B5EF4-FFF2-40B4-BE49-F238E27FC236}">
                <a16:creationId xmlns:a16="http://schemas.microsoft.com/office/drawing/2014/main" id="{D479FF84-47E4-4342-8FDD-C159FC9F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010150"/>
            <a:ext cx="1885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C07F8AD7-34D3-4EEF-83DF-662D7402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1530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GuardrailApply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5A118A-B03E-4082-B06D-8AF0B2DF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81600"/>
            <a:ext cx="4762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surface">
            <a:extLst xmlns:a="http://schemas.openxmlformats.org/drawingml/2006/main">
              <a:ext uri="{FF2B5EF4-FFF2-40B4-BE49-F238E27FC236}">
                <a16:creationId xmlns:a16="http://schemas.microsoft.com/office/drawing/2014/main" id="{9EC26B12-8149-48B6-8D8C-1B3BB4B5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10150"/>
            <a:ext cx="19240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71878232-4D75-41C8-827F-AA50A980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53025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</a:t>
            </a:r>
          </a:p>
        </p:txBody>
      </p:sp>
      <p:sp>
        <p:nvSpPr>
          <p:cNvPr id="40" name="surface">
            <a:extLst xmlns:a="http://schemas.openxmlformats.org/drawingml/2006/main">
              <a:ext uri="{FF2B5EF4-FFF2-40B4-BE49-F238E27FC236}">
                <a16:creationId xmlns:a16="http://schemas.microsoft.com/office/drawing/2014/main" id="{9CB59475-7ECE-4543-870F-B7C735A6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5F6CB765-FB47-44A9-BA9B-0FA2168D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29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42" name="text">
            <a:extLst xmlns:a="http://schemas.openxmlformats.org/drawingml/2006/main">
              <a:ext uri="{FF2B5EF4-FFF2-40B4-BE49-F238E27FC236}">
                <a16:creationId xmlns:a16="http://schemas.microsoft.com/office/drawing/2014/main" id="{4028A1E7-FA16-4C08-B6D9-0127426C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9912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이후 필요한 worker를 병렬 실행하고, Strategist에서 join한 뒤 Analyst와 Guardrail을 통과한다.</a:t>
            </a:r>
          </a:p>
        </p:txBody>
      </p:sp>
    </p:spTree>
    <p:extLst>
      <p:ext uri="{BB962C8B-B14F-4D97-AF65-F5344CB8AC3E}">
        <p14:creationId xmlns:p14="http://schemas.microsoft.com/office/powerpoint/2010/main" val="1258779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8425EBA-0B36-4970-A0B4-4F332C38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D8D3E3A1-5602-4F4A-A80C-0270F1B7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5841258-3E69-4B2B-B054-1BCD12B0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59469AA-9861-495C-AEB8-1B1F1126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624A703-A852-4932-9C8C-0E38542B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Curator·Classifier: 질문을 실행 계획으로 바꾼다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7B343C8-568C-4E0A-A6F9-D5E2A035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사용자 자연어와 포트폴리오를 분석 가능한 종목·섹터·worker_plan으로 구조화하는 앞단 Agent입니다.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F675036F-C819-49FB-AEA5-AEF6404A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E2AAABB7-3E06-4EEA-9021-C8F4C9DB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00DC63B-0ED7-462A-8A07-D6AA800A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95848DC-A35F-4721-8B12-4C2F89F5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 질의·보유 포트폴리오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0D2771FD-8601-49E2-9424-2C8A68A1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45365AB-F29E-478F-99DA-B8858B44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8E4C9C8-8060-44FE-9551-46AD53C3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94D6BEA-B06E-4355-A30E-65102881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분석 대상 종목/후보와 섹터 확정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95A4ED0D-F4C9-40BC-B52A-E41D81D9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F2D98E4D-D24D-4B93-97C8-7087C6EE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822BD6F-3ED5-4750-BF5A-3B866A64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5A3E218-47E9-45AE-AEE3-DEBFEF1D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intent·scope·urgency·depth 분류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A1B7AEEA-A02E-4224-A17D-6E43EDC5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FF0BE0DC-3828-4E7F-896C-0E5F9CCB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3EAA455-257D-4848-A217-E6A4E8D3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A81FD7B-B3A9-4F48-9B31-FEBE9F6D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필요 Agent worker_plan 생성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72D5DC11-57D1-490E-B719-12E55C0D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1646E5B2-63FE-4DCD-88B2-989C2A9E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Input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3DCBE686-39AE-4B03-AB05-AF64AE7D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user_query, portfolio, onboarding profile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5FD5C458-8473-4CDD-9B58-635263C7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9EB89C38-A6EE-4336-AF45-C98CF41E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Decision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668B0DF2-6B55-4A35-BC96-351011CD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single_stock / sector / portfolio 범위와 macro 실행 여부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B993D991-094C-439A-AAAF-099F851F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A540A0D1-CEE2-4443-901C-97BD0F2A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DB05AA0C-31BD-40BF-B19C-A90A5435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CuratorResult, RequestClassification, graph_route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0CED520B-DCA8-4122-9203-86151EDF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CC3EBEE-E3A0-4E2D-A200-D7E0A552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9D1FD604-D2BC-47ED-AB2A-E859A0FE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 구조의 출발점은 '무엇을 분석할지'와 '어떤 Agent를 실행할지'를 먼저 고정하는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11813724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84610F8A-E27A-4D8E-BB09-3C73A730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6846FAB-DE30-4BD0-9D86-03749AB4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53B1599D-70CB-46E2-94F5-249A130E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7C0CCA9-3CB8-417A-977A-ADA875E3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3E93E5C-0D27-4783-A88A-42E0A2C2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Agent: LLM이 숫자를 만들지 않게 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9A3F98B-8F04-4EA4-A820-EC9BEC7D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DART 재무와 pykrx 시세를 기반으로 PER/PBR, 성장률, 수익성, 재무 리스크를 계산합니다.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75572ED-58A0-4D5F-9E2A-D3A1DF00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1A4139E9-4D31-4D2F-BB2B-78FA6FAA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FB99866-2FB6-40CF-9A8B-729261B0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9513F56-8862-437F-A46D-8802DF39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stock_code/corp_code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78BCA397-3ECD-4FBB-A2F4-7E33B1B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E88C724B-6B38-41A8-9082-B101E509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A6EFB17-7E9A-466A-AB7F-DB6631A0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74E7F53-48EE-46AE-B5A4-F0595494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시세와 재무제표 Tool 호출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ACB72F76-2BC8-4008-8D04-5E95244D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66FD806-12F8-47B1-8559-D9B499AA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DCA07CB-9E76-4020-BB08-726127FE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F161646-F601-43AA-B99E-30B11323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PER/PBR/성장률/부채비율 등 지표 계산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B2CC83EC-66F0-492E-8715-1DEE61D1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543F4DD1-FFCE-4B50-89CB-BC1FB5F7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C679E52-F590-4677-A9F2-079FF7B9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46429EA-D7E7-445A-AC0A-0990456A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score, valuation_signal, reasons, risks 반환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2EB174F4-4C2A-46D2-B769-2539E711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F57AB2B-F0A5-4588-8FE7-9E252F92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원칙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C57E18C-B18F-4692-8FE8-57FB40E7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수치 생성은 Tool/DB 담당, LLM은 임의 보정 금지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07E87722-C204-41D2-B1A5-058C7A70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3973AB4-2B88-456C-8583-BA457AD5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1C697351-6B0A-4833-995A-6799BB69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DB/API 실패 시 보수적 fallback과 warning 남김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E755482E-A767-4B9C-8663-69E95CBF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FC2C4D22-0CB4-4D43-83BF-9785EF06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전달값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D2097F1C-B2C6-400B-A7CB-902C4BC0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Strategist가 가중 합성할 정량 score와 핵심 이유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33507C40-6901-4391-B035-A37FFAA3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8277D019-B416-402A-AE01-5000CD84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E72A50E4-FBD2-4148-BD29-DA7C60F3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 Agent는 설명 가능한 계산 근거를 제공해 LLM 환각 위험을 낮춘다.</a:t>
            </a:r>
          </a:p>
        </p:txBody>
      </p:sp>
    </p:spTree>
    <p:extLst>
      <p:ext uri="{BB962C8B-B14F-4D97-AF65-F5344CB8AC3E}">
        <p14:creationId xmlns:p14="http://schemas.microsoft.com/office/powerpoint/2010/main" val="10346694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47DE2C2F-C792-4A0E-B2BB-598D127A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112E372B-9463-44DF-B8B6-130E1420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3E885CE9-0279-4C71-A960-E4DAB35B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5D9E082-DBC5-476A-A04E-D6C39215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A28408F-B991-4D74-B8C8-8BC22503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Agent: 뉴스 수집에서 evidence/risk까지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9E2FF5D-4E3A-408D-BC1F-83B5F8C4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팀원이 정리한 뉴스 수집 → RAG 임베딩 → Hybrid/RRF 검색 → reranker → Qual evidence/risk 생성 흐름을 발표용으로 압축했습니다.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C5C98A9-D421-4E81-8540-A3AABA45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D8FBB30B-B25A-4AC8-BE9B-842CE506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C6B99F7-9C8D-44D8-9C54-9F8D24D2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뉴스 수집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AC92591-6EE3-4307-91A5-AB926F27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네이버 금융 종목 뉴스와 공시 문서 적재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BF9DC50D-2944-4FEA-A987-C8D34D63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274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D17F0CA4-3DE8-401F-9C90-F4BCD0C8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F232736-7596-42AF-986D-CF450BDA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RAG 임베딩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48855D3-CB48-497E-8BC7-81FF2C0F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19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raw_news → docs/chunks, bge-m3 벡터화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135277F8-BAF6-4116-8385-4A02A7DB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223E108-B053-4B1A-99D4-96AB9679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86CFBF3-476C-4802-9032-4B1FF174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Hybrid/RRF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D05A569-96A1-4805-8311-A9C4038E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pgvector 의미 검색 + keyword ts_rank를 RRF로 결합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5BAC387C-8892-4B7C-9E6A-5EC6B509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74555FB1-A919-48E0-AA07-B6A162C8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CE523D8-507F-4B49-B60C-CF527AB0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Reranker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85EF01F-847A-411C-B010-D2B99D38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07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선택적으로 top-k 후보를 cross-encoder 기준 재정렬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CBA37D15-5E45-4407-981B-45E5A3B1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560" y="1657350"/>
            <a:ext cx="207264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7B319549-1DF9-4DC1-8BD2-E74FA5B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18478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678D6A24-D667-4F42-A663-6A258E2C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2266950"/>
            <a:ext cx="17297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QualResult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3CD4B78E-7949-4DA6-8BED-F34BE6C3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10" y="2686050"/>
            <a:ext cx="17297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evidence, sentiment, event_type, risk, fallback_reason 생성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9F0B04C9-F8C4-4963-BA7C-2D9CC7FF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AFA7101-B14F-4852-A21D-CD99882B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담당 자료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98180FC0-A213-47F2-BEC3-90756CE8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docs/agents/news_rag_pipeline.html, docs/agents/qual_agent_flow.html 기반</a:t>
            </a:r>
          </a:p>
        </p:txBody>
      </p:sp>
      <p:sp>
        <p:nvSpPr>
          <p:cNvPr id="30" name="surface">
            <a:extLst xmlns:a="http://schemas.openxmlformats.org/drawingml/2006/main">
              <a:ext uri="{FF2B5EF4-FFF2-40B4-BE49-F238E27FC236}">
                <a16:creationId xmlns:a16="http://schemas.microsoft.com/office/drawing/2014/main" id="{6621900B-E0DA-426A-9A5B-C8FF7C36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D077A1F8-F9C2-4F42-B0C1-F880CDDD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핵심 가치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030FEC8C-27C2-429A-919D-A4B58228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출처 없는 요약이 아니라 검색 근거를 Qual evidence로 전달</a:t>
            </a:r>
          </a:p>
        </p:txBody>
      </p:sp>
      <p:sp>
        <p:nvSpPr>
          <p:cNvPr id="33" name="surface">
            <a:extLst xmlns:a="http://schemas.openxmlformats.org/drawingml/2006/main">
              <a:ext uri="{FF2B5EF4-FFF2-40B4-BE49-F238E27FC236}">
                <a16:creationId xmlns:a16="http://schemas.microsoft.com/office/drawing/2014/main" id="{DFEB180D-77BE-4E47-9231-C8E5850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38550"/>
            <a:ext cx="333375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6803CE16-42C5-47FC-A6C2-AECB20BD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290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안정성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D05B4958-7424-41E3-B105-8F04F93F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DB/임베딩 실패 시 fallback evidence와 reason을 남겨 Guardrail까지 전달</a:t>
            </a:r>
          </a:p>
        </p:txBody>
      </p:sp>
      <p:sp>
        <p:nvSpPr>
          <p:cNvPr id="36" name="surface">
            <a:extLst xmlns:a="http://schemas.openxmlformats.org/drawingml/2006/main">
              <a:ext uri="{FF2B5EF4-FFF2-40B4-BE49-F238E27FC236}">
                <a16:creationId xmlns:a16="http://schemas.microsoft.com/office/drawing/2014/main" id="{9E410EBA-3543-451E-BFF1-5510D4ED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4DCFA377-88C3-43FE-B258-5B225899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983C3651-53D7-4AAC-937D-0FCBE3F7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Agent는 '뉴스를 읽어준다'가 아니라, 검색 가능한 근거를 만들어 정성 리스크로 변환한다.</a:t>
            </a:r>
          </a:p>
        </p:txBody>
      </p:sp>
    </p:spTree>
    <p:extLst>
      <p:ext uri="{BB962C8B-B14F-4D97-AF65-F5344CB8AC3E}">
        <p14:creationId xmlns:p14="http://schemas.microsoft.com/office/powerpoint/2010/main" val="2316303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C30BC4B-67D0-4DF1-B22B-EA57BA96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62744CCB-29CE-422F-A9A8-248D84A0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886FA2F3-F288-4DA5-AAB9-5D9854A8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CF7A184-B5F9-4564-9DCA-C9340897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1A57CA6-4540-4A47-AAEF-64DA08F6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 Agent: 같은 섹터 안에서 상대 위치를 계산한다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B32B6A6-6980-47C2-BC60-EEFFE3A0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대상 종목의 peer를 찾고, 밸류에이션·수익성·성장성·재무 안정성을 비교합니다.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AF20AB86-A49E-45E1-ABF4-99E7308C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39CAB7EF-4958-4A94-AC55-96044720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5E3D981-4BEB-44AA-A274-1C765723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C57D65A-D38B-4D5F-ABF0-53C649D8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sector와 stock_code 수신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E59694E7-39C6-4630-A6C3-7E2B7A43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94757057-F433-410D-B3A0-08E26B3D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2FD8DA1-2C40-494C-A87C-712C2762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14F0F7C-CA67-40C7-8488-275FFB63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company, stock_price, financial_statement에서 peer 후보 조회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D0CC8591-3276-46CE-98F0-CEA9F01C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BF4144F0-3E04-4E23-86B7-8B281937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CB1B83C-2965-4BF5-8F40-BE6F209A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719FF94-3A1B-4215-9172-64412E87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시총 band와 복합 유사도로 비교군 선정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25ADA9A2-E8D0-4312-8979-981B413F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C8F0A7A7-0331-40D5-B069-69B6A38E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8297C7F-F567-4860-85A0-EB91D915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AA68BBB-6CF3-4F6F-AA0A-FA12C95C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상대 위치 score, warnings, peer_summary 반환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85F28DAA-4D3F-4E42-91E7-DBDD365E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0527023-B048-49ED-8B39-FF97F4CD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3단 경로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8039BDD-9321-427D-B6E6-A34824C4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 성공 → MCP 실시간 시세 → 데모 최후 보루 mock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A0EB2599-1357-4A98-9474-AB6D947F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9931788-7863-4817-9ACD-87721823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계산 기준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99BDA746-13DE-4D70-BC55-B37D982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PER/PBR/ROE/성장률/마진/부채비율/데이터 품질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B5965455-F9BB-4C3F-8E7E-33367BF7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3E0D3787-589D-4E91-BCDE-A7EF3460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역할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2BABB1F2-59FC-42A6-B500-A25D84FB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사용자에게 '내 종목이 업종 내 어디쯤인지' 설명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42F5919F-EEDC-4C2C-B2B2-EB0CCCC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D28C0CE0-6F4F-4DC3-923A-8C5DDADB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42B80A6B-4BFA-4176-907D-8205750E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Peer 비교를 분리했기 때문에 단일 종목 분석이 업종 맥락 없이 흐르는 문제를 줄인다.</a:t>
            </a:r>
          </a:p>
        </p:txBody>
      </p:sp>
    </p:spTree>
    <p:extLst>
      <p:ext uri="{BB962C8B-B14F-4D97-AF65-F5344CB8AC3E}">
        <p14:creationId xmlns:p14="http://schemas.microsoft.com/office/powerpoint/2010/main" val="15132587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8F63C44-7988-49D6-A987-F036B095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24823DC-D3B7-4D82-A5E7-940C78F8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7A5AAB23-38E6-4794-B481-2204A378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C679298-6B75-4076-8E9D-197D59F0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7DB02CE-5F07-4092-BC13-8414450B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Agent: 개별 종목을 거시 환경 안에 놓는다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9D3DBAE-899C-4AD9-A411-F58F8A30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금리, 환율, CPI, GDP, 뉴스심리지수 등 거시 지표를 업종 영향으로 해석합니다.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6D905C7-EF52-4D98-B4BB-063F25EF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80724687-4D43-48A7-A058-D79659C4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806E4B-2FF9-4502-B32E-EBCAA4ED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720DD6D-B657-49BE-A8EF-9748E80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sector와 as_of_date 기준 macro context 조회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2E7C0EA6-8DD5-4B14-9607-7646B45A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1326D569-50F1-4CFB-9BF9-2A5D89D0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C6B8955-0447-4F1F-868C-90FEFCD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C32C89D-D3CC-4D8C-B348-09D273E3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금리·물가·성장·환율·심리 지표를 정규화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BE44099D-4E1C-4F40-9E5C-C803AD62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58061117-7D71-44EB-A12B-D59A2CF7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E0F32E8-2EA1-4EDB-B0DC-86667800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6C8047D-8CCE-43BF-B339-74D40E82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업종별 민감도에 따라 score와 risks 계산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41DA129D-D620-429B-BC9E-379A6741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F2B7BE7D-533D-4F7C-A292-4EB616DC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4F8541E-FE88-4203-94A8-10B288E8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1F825D4-26B7-4E1B-8B55-87B44BB4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portfolio/sector 분석 또는 sector가 있는 단일 종목에서 조건부 실행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EEE9FA45-526C-4095-837A-FED0EBDB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BE535AB2-8594-403B-8BFC-F3D91D2F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조건부 실행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4404ED5-4B12-464A-9989-32FEB96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worker_plan에 macro가 있을 때만 Send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46E0533C-FA44-4416-8DB6-71BDC43A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0D5B6895-8493-4957-BA62-8318E258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해석 방향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A2B6ED7C-33AE-4B34-A9C1-476EC39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금리/환율/물가가 업종 수익성에 미치는 압력 설명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A739F9E2-D884-417D-A33A-1C80973C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0A53D63F-CA4F-4D63-A31B-6A728000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1E628FD2-9ACC-40AC-BE01-C43090DF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DB/tool 실패 시 보수적 지표와 warning 반환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493BB510-1D24-4BF4-A724-D06573F1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845E4D9F-0E7A-4948-A7F2-317E365C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AB444C38-EBE8-4E96-AE5B-F84E94D5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Macro는 개별 종목 판단이 시장 환경과 분리되어 보이는 문제를 보완한다.</a:t>
            </a:r>
          </a:p>
        </p:txBody>
      </p:sp>
    </p:spTree>
    <p:extLst>
      <p:ext uri="{BB962C8B-B14F-4D97-AF65-F5344CB8AC3E}">
        <p14:creationId xmlns:p14="http://schemas.microsoft.com/office/powerpoint/2010/main" val="20506297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3F0AA7B-62F7-4C3A-9669-D399CCC9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7219FF0-7C93-4A9C-9410-092F4AC3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F7D0DADD-DA7B-4C4C-AD0B-4573CB11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65F7264-5344-4C66-922F-FD99F7A3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757C0BA-5C01-48E7-B1FC-2EF6C597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Strategist·Analyst: 근거를 개인 맥락으로 합성한다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130F2EF-70DC-4F80-B8D2-F31284A7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Worker 결과를 단순 평균하지 않고, 사용자 보유 비중과 투자성향을 반영해 최종 분석 신호를 만듭니다.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4E3594DE-779D-47CF-AFD3-BDA9A4A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94F577AC-8AFC-4C7E-B8D2-E0CC2AEC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6F2F11C-B031-46AD-848B-BC82037F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76A21B6-4B9C-4FB6-9D2F-085656CE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Worker Agent 결과 join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DA6FF2F8-E351-481C-B70E-81217109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08663F20-DDA5-4BCC-8141-A7D97C2B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30524DC-7F81-4183-ACAB-7C8E3124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039653C-2A4C-479F-BA9E-CFB6AA3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포함 여부에 따라 가중치 재조정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F3214A51-A342-412C-BE7A-D18336F3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63F0A942-4B51-41AF-B3A6-CF62256B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7EB4D14-5082-4745-8AA3-DEF8B4DB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037B55B-AFA8-4BE3-8E1A-C9E0D795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보유 비중·위험성향·투자기간으로 suitability 보정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7E8694FA-4124-4541-8BE0-F0A93BED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9ECCC8EE-6907-4AB4-B92A-54DAAC8F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20673BB-9279-41D7-9C50-3136B0E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09E1C5C-3DE1-4864-B1FC-B9D073DE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sLLM/GLM이 thesis와 risk narrative를 보완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D6CCA098-3929-4D80-B242-D80817D5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CD731F7F-5567-4CC4-A572-FC1D287B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가중 합성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761B188A-F6C1-454B-A26C-9E813B00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40~45%, Qual 25~30%, Competitor 20~25%, Macro 15%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FB291E61-FD23-4964-A6AB-98649FFF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A182E04-AB8D-466A-8EDD-741A1B74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개인화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63218C89-880A-44DD-80D9-6B12F74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같은 종목이라도 보유 비중과 위험성향에 따라 suitability가 달라짐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77260956-7FFC-4B0A-9A02-A849236C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E58856B6-D789-4F59-A6F5-9D2EE30F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AF4A20AC-8FF5-4541-A740-AEB4035D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 실패 시 rule-based Strategist 결과를 유지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4E194F50-8E15-4605-8F21-8D516E3B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25F2F635-5E4E-4328-8200-7B2A9EE8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DBDB82BC-72F1-4D72-83F7-300EEE0F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개인화는 중간 근거를 바꾸는 것이 아니라, 최종 해석과 적합도에서 반영한다.</a:t>
            </a:r>
          </a:p>
        </p:txBody>
      </p:sp>
    </p:spTree>
    <p:extLst>
      <p:ext uri="{BB962C8B-B14F-4D97-AF65-F5344CB8AC3E}">
        <p14:creationId xmlns:p14="http://schemas.microsoft.com/office/powerpoint/2010/main" val="7993551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CC9A2B82-F72B-49DE-BACB-3CFCFB5E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4798096B-AC9B-45F7-8E96-0288896D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0FB5F4FE-29A3-4EB7-BEA3-4AD3B7A9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D9817B7-7CB7-494A-A951-B5A064AD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0DEAD77-4DFE-4813-8255-9F2D8A30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Guardrail·Renderer: 안전하게 보여주는 마지막 단계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169C881-7D06-4CF4-BC84-8718C664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최종 출력 전 PII, 욕설, 수익 보장, 투자 권유성 표현, 근거 부족을 점검하고 Tier 결과로 렌더링합니다.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6CB36CCB-6D89-4C38-978A-88AF0C51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04CF55C4-B076-4015-BA4A-6DA8E558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6C0AFB8-63F7-469C-A4EC-EA76441A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95B21B3-2999-4A6C-BA1D-70735735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 결과를 Guardrail 7게이트로 검사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E473962C-F351-4D4E-9F97-DF3914C3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C496F910-FA22-4755-B99C-86DC563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571E7A0-2F98-4697-8153-02D4AF4B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E77CB34-89C6-4C75-B1B4-88B79904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5688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PII나 금지 표현 발견 시 보수적 HOLD와 마스킹 적용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A262EAEE-095D-40B0-B316-7FA60CFD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F152277C-AAB3-4AC1-8A6D-6FD1E7E0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2E29266-30ED-4173-A08C-3C7B646D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283A35E-B98E-4AA6-B537-BA145D8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부족은 recomposer revision loop로 최대 2회 재합성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E95105CB-7FD9-493E-984A-29E3403C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1752600"/>
            <a:ext cx="2605088" cy="1352550"/>
          </a:xfrm>
          <a:prstGeom xmlns:a="http://schemas.openxmlformats.org/drawingml/2006/main" prst="roundRect">
            <a:avLst>
              <a:gd name="adj" fmla="val 1267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14552A3E-6A61-4B1F-826C-29BD884C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1943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02D3EDC-A703-4CDD-8A2D-CE2DB008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00025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0C5ABB7-9174-4AF0-9E79-17AAC144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419350"/>
            <a:ext cx="226218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ResultRenderer가 Tier 1/2/3와 다운로드 산출물 구조화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FA3F54D3-D250-4858-AB4E-2A94313B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767F4B1-6B1C-497D-A4ED-EBE64650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Safety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8696E55E-38C6-4FE4-9AD5-AA48EC87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권유·수익 보장·민감정보 노출을 최종 차단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21FDE20B-30DE-4A07-9D10-3CA2B1B5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E199307-4CF4-45C6-AB5C-2113BD3F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Transparency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4EBAECBA-DDBF-47D6-BF16-5C26176F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fallback과 근거 부족은 사용자 경고로 승격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6EB84646-A2AD-4230-B302-B986237D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3333750" cy="123825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860A4FA2-9406-482D-BC3D-0EFF6011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191C0236-9D72-4829-9FC8-124C4E36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57650"/>
            <a:ext cx="2914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줄 신호, 근거 카드, 상세 리포트로 분리</a:t>
            </a:r>
          </a:p>
        </p:txBody>
      </p:sp>
      <p:sp>
        <p:nvSpPr>
          <p:cNvPr id="32" name="surface">
            <a:extLst xmlns:a="http://schemas.openxmlformats.org/drawingml/2006/main">
              <a:ext uri="{FF2B5EF4-FFF2-40B4-BE49-F238E27FC236}">
                <a16:creationId xmlns:a16="http://schemas.microsoft.com/office/drawing/2014/main" id="{71D40640-2DBD-4E43-BF72-A1723CB1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C5A8ED2E-F651-4A55-9705-58E26620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E5628444-4FCE-405D-8EC1-60D6BC1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좋은 분석보다 중요한 것은 위험한 표현을 그대로 내보내지 않는 구조다.</a:t>
            </a:r>
          </a:p>
        </p:txBody>
      </p:sp>
    </p:spTree>
    <p:extLst>
      <p:ext uri="{BB962C8B-B14F-4D97-AF65-F5344CB8AC3E}">
        <p14:creationId xmlns:p14="http://schemas.microsoft.com/office/powerpoint/2010/main" val="2819242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DF3DD91-5154-480B-B3A2-2B1718E3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CD6BA246-B366-4094-867F-E6C182C5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EB8853F4-9619-4211-887D-8072BA73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5F124D7-0DD5-4861-B9E1-425D7A6E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F419732-071F-4F59-B73F-CAF1FC4F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시연은 라이브 대신 영상으로 안정적으로 보여준다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51C60F-7F94-443F-9179-D0D71FA0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라이브 조작 대신 준비된 영상으로 사용자 흐름을 안정적으로 전달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152CE004-3988-4ABD-BB86-B3541F20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667500" cy="36576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6172A"/>
          </a:solidFill>
          <a:ln xmlns:a="http://schemas.openxmlformats.org/drawingml/2006/main" w="9525">
            <a:solidFill>
              <a:srgbClr val="27507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6108a691a4310"/>
          <a:srcRect xmlns:a="http://schemas.openxmlformats.org/drawingml/2006/main" l="13643" t="0" r="136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" y="1790700"/>
            <a:ext cx="3028950" cy="234315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902fc0300408c"/>
          <a:srcRect xmlns:a="http://schemas.openxmlformats.org/drawingml/2006/main" l="13643" t="0" r="136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14800" y="1790700"/>
            <a:ext cx="3028950" cy="234315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B23AAC28-737F-4756-9FAC-AF4C4DA9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29100"/>
            <a:ext cx="1562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A35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DDDB5A3-7B57-4D8B-B2A4-928AD245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624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▶ DEMO VIDEO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8D78E17-84C9-486F-9242-546ADAEA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6210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0:00 온보딩: 투자 목적·기간·손실 감내 등 7단계 입력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45BFC8A9-81D7-4DE3-8FA8-ED9620E3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4315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0:25 포트폴리오: 보유 종목, 평단, 현금 비중 입력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181A7FEF-BFF8-47AF-BD30-45622664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2420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0:45 Agent 진행: Quant·Qual·Competitor·Macro 진행 상태 확인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64AD5CF6-FE40-4CE6-9CA4-89D40B4B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05250"/>
            <a:ext cx="37719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52400" tIns="123825" rIns="152400" bIns="9525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1:15 결과: HOLD/신뢰도/포트폴리오 적합도와 근거 카드 확인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E1F63B1-363A-456F-8CBF-84383490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D34A01B-8B5E-4BD3-81D1-A090F6D7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292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3B5CB98-BFB6-4EA7-A5D4-89EDD74B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911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발표장 리스크를 줄이기 위해 라이브 조작은 최소화하고, 준비된 시연 영상으로 전체 사용자 흐름을 보여준다.</a:t>
            </a:r>
          </a:p>
        </p:txBody>
      </p:sp>
    </p:spTree>
    <p:extLst>
      <p:ext uri="{BB962C8B-B14F-4D97-AF65-F5344CB8AC3E}">
        <p14:creationId xmlns:p14="http://schemas.microsoft.com/office/powerpoint/2010/main" val="219940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A4741BDA-211B-45D7-B439-A6212E1F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AE6A046-D2FA-43BB-93B1-C6C93F1A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DF7B0E30-B02B-49F3-B902-3039AB44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8BBD090-A1A9-4F21-9B07-0457EA0E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05A4B5A-F179-4E75-9C5B-F36DFF8E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stock-agent의 차별점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7DCCDF-9149-4645-BF17-F55466FB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기능 나열보다 평가 가능성과 실패 대응이 차별점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23FDB367-CC2A-4BA4-BC58-269F255A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B95F6B05-F485-4879-9547-8FDE2708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1FF245E-47E5-4DD0-A34D-397DD90E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92DF2BE-C8C7-493D-87B6-96E9B1B6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28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포트폴리오 맥락: 보유 종목·현금 비중·투자성향을 함께 해석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021D58CC-E97A-4FF9-B146-83D26B84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F782D16-B6C4-4EE4-A943-2D29DFDB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3C80150-0AA3-41EA-8893-4B53C016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663384E-F37F-4060-B7F6-860D88A1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955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도구와 LLM 분리: 숫자 계산은 Tool, 설명과 합성은 LLM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466C1990-737D-4D18-A23F-613D00DF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5664D162-1C64-4787-9E58-23D67A1D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DB5EB2C-D8D1-4F59-953B-620E3789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CB83273-C3FB-4879-B9C7-272D598A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Agent별 실패 격리: 부분 실패를 warning과 fallback으로 흡수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3F7DE362-DDA7-4C83-B10B-A59F9B98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6269CF70-CB0E-4899-842E-C849873C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4A76B51-D7E0-4BD5-9219-05988D4E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F5C3731-0458-430E-AEE8-D72519F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290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검색 근거 중심: 뉴스·공시를 RAG evidence로 변환해 출처 없는 요약을 줄임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BB256935-C73C-4557-A20D-0D89F20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15769648-2871-44FF-9BB1-D28E62F0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D81C251-4876-425A-AD65-0038D48E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1DDB8209-DE2D-4DC8-9C1E-1C740126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95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금융 안전장치: Guardrail과 재합성 루프로 위험 표현을 완화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83CAB59F-6085-4189-BBCF-3A8E552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DC0A4EC8-F72E-4D40-8048-B418D65B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15F4812F-AC01-4579-8BC7-623DB429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우리는 추천 엔진을 만든 것이 아니라, 개인투자자의 판단 근거를 구조화하는 분석 보조 시스템을 만들었다.</a:t>
            </a:r>
          </a:p>
        </p:txBody>
      </p:sp>
    </p:spTree>
    <p:extLst>
      <p:ext uri="{BB962C8B-B14F-4D97-AF65-F5344CB8AC3E}">
        <p14:creationId xmlns:p14="http://schemas.microsoft.com/office/powerpoint/2010/main" val="13611765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3222344-EDF8-4DE3-BE9C-FA730D6B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6CBCD43-AD60-48FE-AC67-D2F67A94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FE537915-9D4A-4A33-A008-B84D0FA8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575E3DF-3375-4AEF-987B-99DE651A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E58A87C-04CB-466C-B9FB-13EC78E1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상업성: 개인투자자용 PB-lite 분석 보조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CAE3537-7009-4D30-A558-9ADE1EFA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추천 서비스가 아니라 설명 가능한 분석 보조 모듈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4E965A29-83FE-4BBD-8AFE-B76408B1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A04BD35D-0B37-4350-BBDE-4F43DCF2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38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CF04882-F36C-44DE-97D5-55F238FC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268A3D9-F31D-422E-BD3C-C5D80524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28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B2C: 개인투자자의 보유 종목 점검과 정기 리포트 생성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AB0B25CB-6F00-4FBB-B51A-1E056D02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3D472EE-1ECA-4F34-85A0-179F7932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9B7561F-DBB1-446F-80A4-5AFD0BD3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831F3B5-7385-4C74-AB71-DAFEAFC0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955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B2B: 증권·핀테크 앱에 설명형 AI 분석 모듈로 탑재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0DDEDD13-CA40-452F-81EB-AA165460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3DB0D164-1E37-43EC-975C-E6D2E5E4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B00A810-6279-450B-885B-27732301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5D3306E-2E02-4769-94C1-5DEAECF5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교육: 투자 판단 과정을 설명하는 실습형 튜터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CD21EBC6-35C1-4F83-B5B5-E223157D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8EB6133B-4415-4033-BA41-D46D0D83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1CF9FD9-0D52-4ABB-BD4A-8EFAB7B3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C1D9BCFE-1D09-4F15-98A4-55365715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2902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리서치 보조: 뉴스·공시·peer 요약 자동화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91C79A7E-419F-4325-90ED-9F5CF2FF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4E8D2211-0801-426E-B1A6-29EC1246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EB6ACE3B-F82E-4A81-874E-61F01967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446A193A-46BA-416E-8AC6-1A8A359B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95775"/>
            <a:ext cx="1000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수익화: 프리미엄 리포트, 포트폴리오 모니터링, API 모듈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9589ABAD-AB78-4124-82D9-0C8D0B2F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6F806824-318E-4B83-BDEC-081D981C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197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9F6E0DDA-50E0-4ED6-901D-14714F53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816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규제 리스크를 줄이기 위해 자동매매나 확정 추천이 아니라 설명 가능한 분석 보조로 포지셔닝한다.</a:t>
            </a:r>
          </a:p>
        </p:txBody>
      </p:sp>
    </p:spTree>
    <p:extLst>
      <p:ext uri="{BB962C8B-B14F-4D97-AF65-F5344CB8AC3E}">
        <p14:creationId xmlns:p14="http://schemas.microsoft.com/office/powerpoint/2010/main" val="21032702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B522848B-387B-4571-805A-549CC219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4B9CFA59-70F8-4ED1-B79F-AF75D6E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A508686E-D419-4B55-ADBA-AE3DF61A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2710645-B9C1-45B7-A2BB-12280675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3E9DFED-B8F8-4A57-96CE-4947905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09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한계와 결론: 더 정확한 근거 연결이 다음 단계다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40FBEEA-F322-45F6-A2CB-62CD9A1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한계를 숨기지 않고 다음 개선 방향과 최종 메시지로 연결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8ED864A5-052D-4DD9-B8DC-5484EC07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64B3FC16-FB85-4F2C-87DB-0AD40222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74CBF56-F1F1-4F6B-B1E0-7EE79B84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53C3153-D937-4A3B-95C5-80D33960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품질: RAG 인용 스팬, context gating, reranker 운영 기준 고도화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8A670D6D-570C-40DC-8F52-9FBE79D9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36D4FE03-EFB4-4F0B-86E9-617A9103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52A38EA-350C-49FF-ACC3-AC20506F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66F681C-4A74-4E49-BDF3-06E6E23E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데이터 영속화: users·holdings·analysis_cache 테이블과 이력 관리 필요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10DD1748-CC88-4DD7-A56A-9DFE6BB2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B810577A-ACF5-4260-8B80-E4DF2C31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5A294FF-DF01-439B-90AC-1A15D98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00E5830-FFD4-4AA3-B10E-657C1C53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커버리지: 실데이터 종목 범위와 뉴스/공시 수집 안정성 확대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100A3885-FE88-40F0-B00C-AE22F02F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F2EDF15D-03AB-4E8F-97BB-7B47BAF1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1039278-6EF7-4E31-8AC0-F8BDB4DA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839F272-37D6-4F76-8200-9E1F22AA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제품화: PB 리포트 PDF/Excel, 알림, 운영 비용 제어 필요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C0BA9711-4B81-4DB3-9661-14698DB5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D0AAF687-C963-4DBF-B101-174471A5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244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3B399F36-BC08-4B31-BE64-E3B84E55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863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stock-agent는 투자 판단을 자동화한 것이 아니라, 판단에 필요한 근거를 Agent 구조로 분해하고 다시 합성했다.</a:t>
            </a:r>
          </a:p>
        </p:txBody>
      </p:sp>
    </p:spTree>
    <p:extLst>
      <p:ext uri="{BB962C8B-B14F-4D97-AF65-F5344CB8AC3E}">
        <p14:creationId xmlns:p14="http://schemas.microsoft.com/office/powerpoint/2010/main" val="20485935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2026-06-26T09:49:18.2030000Z</dcterms:created>
  <dcterms:modified xsi:type="dcterms:W3CDTF">2026-06-26T09:49:18.2030000Z</dcterms:modified>
</coreProperties>
</file>