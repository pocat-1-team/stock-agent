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78060424d24ce2" /><Relationship Type="http://schemas.openxmlformats.org/officeDocument/2006/relationships/extended-properties" Target="/docProps/app.xml" Id="R34d0be3a153e461b" /><Relationship Type="http://schemas.openxmlformats.org/officeDocument/2006/relationships/officeDocument" Target="/ppt/presentation.xml" Id="R1c16d8376f374a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74e333520f4511"/>
  </p:sldMasterIdLst>
  <p:notesMasterIdLst>
    <p:notesMasterId xmlns:r="http://schemas.openxmlformats.org/officeDocument/2006/relationships" r:id="R71134c7f6bef4d37"/>
  </p:notesMasterIdLst>
  <p:sldIdLst>
    <p:sldId xmlns:r="http://schemas.openxmlformats.org/officeDocument/2006/relationships" id="256" r:id="Rb655ef46d6374c93"/>
    <p:sldId xmlns:r="http://schemas.openxmlformats.org/officeDocument/2006/relationships" id="257" r:id="R1eae1c5388284ae8"/>
    <p:sldId xmlns:r="http://schemas.openxmlformats.org/officeDocument/2006/relationships" id="258" r:id="Re9a849a3b25643e0"/>
    <p:sldId xmlns:r="http://schemas.openxmlformats.org/officeDocument/2006/relationships" id="259" r:id="R6717e361f5584471"/>
    <p:sldId xmlns:r="http://schemas.openxmlformats.org/officeDocument/2006/relationships" id="260" r:id="R9e7278bc0aa743d3"/>
    <p:sldId xmlns:r="http://schemas.openxmlformats.org/officeDocument/2006/relationships" id="261" r:id="R1d45cb1cdc4c4615"/>
    <p:sldId xmlns:r="http://schemas.openxmlformats.org/officeDocument/2006/relationships" id="262" r:id="R3f7d129b79a44c80"/>
    <p:sldId xmlns:r="http://schemas.openxmlformats.org/officeDocument/2006/relationships" id="263" r:id="R9113fce1720e4755"/>
    <p:sldId xmlns:r="http://schemas.openxmlformats.org/officeDocument/2006/relationships" id="264" r:id="R58cb66edb27e4052"/>
    <p:sldId xmlns:r="http://schemas.openxmlformats.org/officeDocument/2006/relationships" id="265" r:id="Rc5f73be73a8149cd"/>
    <p:sldId xmlns:r="http://schemas.openxmlformats.org/officeDocument/2006/relationships" id="266" r:id="Rbc75243ee00d4d15"/>
    <p:sldId xmlns:r="http://schemas.openxmlformats.org/officeDocument/2006/relationships" id="267" r:id="R1c8d2143d5394a35"/>
    <p:sldId xmlns:r="http://schemas.openxmlformats.org/officeDocument/2006/relationships" id="268" r:id="R9809f7f7e52e4ea4"/>
    <p:sldId xmlns:r="http://schemas.openxmlformats.org/officeDocument/2006/relationships" id="269" r:id="R3c64b177cbe34692"/>
    <p:sldId xmlns:r="http://schemas.openxmlformats.org/officeDocument/2006/relationships" id="270" r:id="Re1960094abb74478"/>
    <p:sldId xmlns:r="http://schemas.openxmlformats.org/officeDocument/2006/relationships" id="271" r:id="R6a2cd57d03044443"/>
    <p:sldId xmlns:r="http://schemas.openxmlformats.org/officeDocument/2006/relationships" id="272" r:id="R5373315ebc99462d"/>
    <p:sldId xmlns:r="http://schemas.openxmlformats.org/officeDocument/2006/relationships" id="273" r:id="Rb28426591b26409f"/>
    <p:sldId xmlns:r="http://schemas.openxmlformats.org/officeDocument/2006/relationships" id="274" r:id="Recf5bfa0e60142f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ba05af58df40de" /><Relationship Type="http://schemas.openxmlformats.org/officeDocument/2006/relationships/slideMaster" Target="/ppt/slideMasters/slideMaster1.xml" Id="R2974e333520f4511" /><Relationship Type="http://schemas.openxmlformats.org/officeDocument/2006/relationships/notesMaster" Target="/ppt/notesMasters/notesMaster1.xml" Id="R71134c7f6bef4d37" /><Relationship Type="http://schemas.openxmlformats.org/officeDocument/2006/relationships/presProps" Target="/ppt/presProps.xml" Id="R29a2e2ae94a24144" /><Relationship Type="http://schemas.openxmlformats.org/officeDocument/2006/relationships/tableStyles" Target="/ppt/tableStyles.xml" Id="Ra358c1e081774055" /><Relationship Type="http://schemas.openxmlformats.org/officeDocument/2006/relationships/slide" Target="/ppt/slides/slide1.xml" Id="Rb655ef46d6374c93" /><Relationship Type="http://schemas.openxmlformats.org/officeDocument/2006/relationships/slide" Target="/ppt/slides/slide2.xml" Id="R1eae1c5388284ae8" /><Relationship Type="http://schemas.openxmlformats.org/officeDocument/2006/relationships/slide" Target="/ppt/slides/slide3.xml" Id="Re9a849a3b25643e0" /><Relationship Type="http://schemas.openxmlformats.org/officeDocument/2006/relationships/slide" Target="/ppt/slides/slide4.xml" Id="R6717e361f5584471" /><Relationship Type="http://schemas.openxmlformats.org/officeDocument/2006/relationships/slide" Target="/ppt/slides/slide5.xml" Id="R9e7278bc0aa743d3" /><Relationship Type="http://schemas.openxmlformats.org/officeDocument/2006/relationships/slide" Target="/ppt/slides/slide6.xml" Id="R1d45cb1cdc4c4615" /><Relationship Type="http://schemas.openxmlformats.org/officeDocument/2006/relationships/slide" Target="/ppt/slides/slide7.xml" Id="R3f7d129b79a44c80" /><Relationship Type="http://schemas.openxmlformats.org/officeDocument/2006/relationships/slide" Target="/ppt/slides/slide8.xml" Id="R9113fce1720e4755" /><Relationship Type="http://schemas.openxmlformats.org/officeDocument/2006/relationships/slide" Target="/ppt/slides/slide9.xml" Id="R58cb66edb27e4052" /><Relationship Type="http://schemas.openxmlformats.org/officeDocument/2006/relationships/slide" Target="/ppt/slides/slide10.xml" Id="Rc5f73be73a8149cd" /><Relationship Type="http://schemas.openxmlformats.org/officeDocument/2006/relationships/slide" Target="/ppt/slides/slide11.xml" Id="Rbc75243ee00d4d15" /><Relationship Type="http://schemas.openxmlformats.org/officeDocument/2006/relationships/slide" Target="/ppt/slides/slide12.xml" Id="R1c8d2143d5394a35" /><Relationship Type="http://schemas.openxmlformats.org/officeDocument/2006/relationships/slide" Target="/ppt/slides/slide13.xml" Id="R9809f7f7e52e4ea4" /><Relationship Type="http://schemas.openxmlformats.org/officeDocument/2006/relationships/slide" Target="/ppt/slides/slide14.xml" Id="R3c64b177cbe34692" /><Relationship Type="http://schemas.openxmlformats.org/officeDocument/2006/relationships/slide" Target="/ppt/slides/slide15.xml" Id="Re1960094abb74478" /><Relationship Type="http://schemas.openxmlformats.org/officeDocument/2006/relationships/slide" Target="/ppt/slides/slide16.xml" Id="R6a2cd57d03044443" /><Relationship Type="http://schemas.openxmlformats.org/officeDocument/2006/relationships/slide" Target="/ppt/slides/slide17.xml" Id="R5373315ebc99462d" /><Relationship Type="http://schemas.openxmlformats.org/officeDocument/2006/relationships/slide" Target="/ppt/slides/slide18.xml" Id="Rb28426591b26409f" /><Relationship Type="http://schemas.openxmlformats.org/officeDocument/2006/relationships/slide" Target="/ppt/slides/slide19.xml" Id="Recf5bfa0e60142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b0445280dd44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b293e18b434a57" /><Relationship Type="http://schemas.openxmlformats.org/officeDocument/2006/relationships/notesMaster" Target="/ppt/notesMasters/notesMaster1.xml" Id="R901eafa0ab2242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c53c34b6374d40" /><Relationship Type="http://schemas.openxmlformats.org/officeDocument/2006/relationships/notesMaster" Target="/ppt/notesMasters/notesMaster1.xml" Id="Rb36ba94a3e124e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a90fa2a7114fed" /><Relationship Type="http://schemas.openxmlformats.org/officeDocument/2006/relationships/notesMaster" Target="/ppt/notesMasters/notesMaster1.xml" Id="R23d913896bb64d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f9929a5ead4808" /><Relationship Type="http://schemas.openxmlformats.org/officeDocument/2006/relationships/notesMaster" Target="/ppt/notesMasters/notesMaster1.xml" Id="R502b9d124a8c4f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23dc5b3c0b4eea" /><Relationship Type="http://schemas.openxmlformats.org/officeDocument/2006/relationships/notesMaster" Target="/ppt/notesMasters/notesMaster1.xml" Id="R27df6f2ed1c448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7874342c7743a0" /><Relationship Type="http://schemas.openxmlformats.org/officeDocument/2006/relationships/notesMaster" Target="/ppt/notesMasters/notesMaster1.xml" Id="Rb5951266325c4a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57a5949f4b4b2c" /><Relationship Type="http://schemas.openxmlformats.org/officeDocument/2006/relationships/notesMaster" Target="/ppt/notesMasters/notesMaster1.xml" Id="R7e2dddd9647145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b78190d1be4d6b" /><Relationship Type="http://schemas.openxmlformats.org/officeDocument/2006/relationships/notesMaster" Target="/ppt/notesMasters/notesMaster1.xml" Id="R75cf7a878b084d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57ab981fe748e9" /><Relationship Type="http://schemas.openxmlformats.org/officeDocument/2006/relationships/notesMaster" Target="/ppt/notesMasters/notesMaster1.xml" Id="R9cb15c8dfece4b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ac38f77c424938" /><Relationship Type="http://schemas.openxmlformats.org/officeDocument/2006/relationships/notesMaster" Target="/ppt/notesMasters/notesMaster1.xml" Id="R216fbb3512184d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5c5f948f4c45be" /><Relationship Type="http://schemas.openxmlformats.org/officeDocument/2006/relationships/notesMaster" Target="/ppt/notesMasters/notesMaster1.xml" Id="Rc004725683cc43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76ccb5a301469e" /><Relationship Type="http://schemas.openxmlformats.org/officeDocument/2006/relationships/notesMaster" Target="/ppt/notesMasters/notesMaster1.xml" Id="R2c11620c09a547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7639a1a606f4170" /><Relationship Type="http://schemas.openxmlformats.org/officeDocument/2006/relationships/notesMaster" Target="/ppt/notesMasters/notesMaster1.xml" Id="R262c00da1515436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783ae29f99143b3" /><Relationship Type="http://schemas.openxmlformats.org/officeDocument/2006/relationships/notesMaster" Target="/ppt/notesMasters/notesMaster1.xml" Id="Rc11e782e29ea4c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deeb53518a94da4" /><Relationship Type="http://schemas.openxmlformats.org/officeDocument/2006/relationships/notesMaster" Target="/ppt/notesMasters/notesMaster1.xml" Id="R2a3f7a291ae64de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59517c7126d4435" /><Relationship Type="http://schemas.openxmlformats.org/officeDocument/2006/relationships/notesMaster" Target="/ppt/notesMasters/notesMaster1.xml" Id="R12078ad0bec4409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b00594e36024d7d" /><Relationship Type="http://schemas.openxmlformats.org/officeDocument/2006/relationships/notesMaster" Target="/ppt/notesMasters/notesMaster1.xml" Id="R06b68ba7b8ed442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2fe0af81f1546a4" /><Relationship Type="http://schemas.openxmlformats.org/officeDocument/2006/relationships/notesMaster" Target="/ppt/notesMasters/notesMaster1.xml" Id="Rd1e7b9cdd36c4bf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dd03284a9624219" /><Relationship Type="http://schemas.openxmlformats.org/officeDocument/2006/relationships/notesMaster" Target="/ppt/notesMasters/notesMaster1.xml" Id="R104ed3b3dfd94a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문장은 투자 판단 자동화가 아니라 분석 신호를 구조화하는 시스템이라고 못 박는다.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 역할을 앞에서 짚고, 이후 Agent 슬라이드마다 담당 구현과 연결한다.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출처는 본문에 크게 노출하지 않고 Q&amp;A 대응용으로만 기억한다.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수익률 수치는 표본 분석 기준이므로 숫자보다 문제 구조를 강조한다.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stock-agent는 아이디어가 아니라 현재 구현한 MVP라는 표현을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악마의 대변인이라는 표현 대신 Guardrail과 전문 Agent 관점 분리라고 말한다.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7장은 레이어, 8장은 11노드 흐름으로 나누어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 문서는 docs/architecture/pipeline_11node_groundtruth.md다.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여기서 LangGraph Send API fan-out의 이유를 연결한다.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Quant는 '정확한 수치 계산 담당'이라는 한 문장으로 빠르게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30초 버전: 뉴스 수집, 임베딩 저장, Hybrid 검색, reranker, evidence/risk 생성 순서만 말한다. 영상에서 뉴스 fallback이 보이면 기능 실패가 아니라 DB 헬스체크 또는 임베딩 검색 연결 실패를 보수적으로 노출한 것이며, DATABASE_URL과 rag_chunks 임베딩 적재 상태를 확인해야 한다고 답변한다.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MCP는 '외부 데이터 경로를 표준 인터페이스로 노출한 점' 정도만 짚는다.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모든 요청에 macro를 돌리는 게 아니라 조건부 실행이라는 점을 강조한다.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투자 권유가 아니라 포트폴리오 맥락화된 분석 신호라고 반복한다.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심사위원에게 금융 도메인에서 안전 검증이 왜 필요한지 짧게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슬라이드에서 로컬 시연 영상으로 전환한다. 저장소에는 아직 영상 파일이 없으므로 HTML/PPTX에는 포스터형 슬라이드만 넣었다.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여기서는 구현 차별점만 말하고 경쟁사 비교를 반복하지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상업성은 '개인용 PB-lite'와 'B2B 분석 모듈' 두 축으로 말한다.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 문장은 천천히 말하고 Q&amp;A로 넘긴다.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c300bd896b45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c639de638c4822" /><Relationship Type="http://schemas.openxmlformats.org/officeDocument/2006/relationships/slideLayout" Target="/ppt/slideLayouts/slideLayout1.xml" Id="Rfc0029e6f95d4f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0029e6f95d4f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9c0ccb9914bb2" /><Relationship Type="http://schemas.openxmlformats.org/officeDocument/2006/relationships/image" Target="/ppt/media/image.png" Id="R4234cb0ee853408b" /><Relationship Type="http://schemas.openxmlformats.org/officeDocument/2006/relationships/notesSlide" Target="/ppt/notesSlides/notesSlide1.xml" Id="R44e32666ff8749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714030e134713" /><Relationship Type="http://schemas.openxmlformats.org/officeDocument/2006/relationships/notesSlide" Target="/ppt/notesSlides/notesSlide2.xml" Id="R0f786e66c2db4a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b7ffb31c94313" /><Relationship Type="http://schemas.openxmlformats.org/officeDocument/2006/relationships/notesSlide" Target="/ppt/notesSlides/notesSlide3.xml" Id="R02b94f3ba6e849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2f5c6361b4285" /><Relationship Type="http://schemas.openxmlformats.org/officeDocument/2006/relationships/notesSlide" Target="/ppt/notesSlides/notesSlide4.xml" Id="R46dfb2c3ce784c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7b44d722b4275" /><Relationship Type="http://schemas.openxmlformats.org/officeDocument/2006/relationships/notesSlide" Target="/ppt/notesSlides/notesSlide5.xml" Id="Rf1f62768395144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cd142e3964264" /><Relationship Type="http://schemas.openxmlformats.org/officeDocument/2006/relationships/notesSlide" Target="/ppt/notesSlides/notesSlide6.xml" Id="Re8a5fd07a84645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6f906e6114e6a" /><Relationship Type="http://schemas.openxmlformats.org/officeDocument/2006/relationships/image" Target="/ppt/media/image2.png" Id="Rbc69bdf67bcd4764" /><Relationship Type="http://schemas.openxmlformats.org/officeDocument/2006/relationships/notesSlide" Target="/ppt/notesSlides/notesSlide7.xml" Id="Re8e9562d659249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04d9525fb45ad" /><Relationship Type="http://schemas.openxmlformats.org/officeDocument/2006/relationships/notesSlide" Target="/ppt/notesSlides/notesSlide8.xml" Id="Raef1eac0057844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da33909724cc1" /><Relationship Type="http://schemas.openxmlformats.org/officeDocument/2006/relationships/notesSlide" Target="/ppt/notesSlides/notesSlide9.xml" Id="R83c349e8bd4e4d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c1f65b7564d3d" /><Relationship Type="http://schemas.openxmlformats.org/officeDocument/2006/relationships/notesSlide" Target="/ppt/notesSlides/notesSlide10.xml" Id="R9f906fe19a5c42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ff71bc2b0477d" /><Relationship Type="http://schemas.openxmlformats.org/officeDocument/2006/relationships/notesSlide" Target="/ppt/notesSlides/notesSlide11.xml" Id="Rfa9f76007e034a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b64d583034294" /><Relationship Type="http://schemas.openxmlformats.org/officeDocument/2006/relationships/notesSlide" Target="/ppt/notesSlides/notesSlide12.xml" Id="Re5e0a20526134aa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a10a4197f4cf0" /><Relationship Type="http://schemas.openxmlformats.org/officeDocument/2006/relationships/notesSlide" Target="/ppt/notesSlides/notesSlide13.xml" Id="R7e4a98cf944244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00b14a7aa4f9e" /><Relationship Type="http://schemas.openxmlformats.org/officeDocument/2006/relationships/notesSlide" Target="/ppt/notesSlides/notesSlide14.xml" Id="R538251f4a48f4f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2bcc6bd914453" /><Relationship Type="http://schemas.openxmlformats.org/officeDocument/2006/relationships/notesSlide" Target="/ppt/notesSlides/notesSlide15.xml" Id="R90394c3c664a4f5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dda9f7642470b" /><Relationship Type="http://schemas.openxmlformats.org/officeDocument/2006/relationships/image" Target="/ppt/media/image.jpeg" Id="Rcdc865e0e7504206" /><Relationship Type="http://schemas.openxmlformats.org/officeDocument/2006/relationships/image" Target="/ppt/media/image2.jpeg" Id="Ra96dccaedf1f4972" /><Relationship Type="http://schemas.openxmlformats.org/officeDocument/2006/relationships/notesSlide" Target="/ppt/notesSlides/notesSlide16.xml" Id="R11291e1cd44443d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11224d6f344d4" /><Relationship Type="http://schemas.openxmlformats.org/officeDocument/2006/relationships/notesSlide" Target="/ppt/notesSlides/notesSlide17.xml" Id="R5cd6be048f7444d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8e092646f449b" /><Relationship Type="http://schemas.openxmlformats.org/officeDocument/2006/relationships/notesSlide" Target="/ppt/notesSlides/notesSlide18.xml" Id="R086b034fedbf4c0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35849c17e476f" /><Relationship Type="http://schemas.openxmlformats.org/officeDocument/2006/relationships/notesSlide" Target="/ppt/notesSlides/notesSlide19.xml" Id="Ra1d41d5762964f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band">
            <a:extLst xmlns:a="http://schemas.openxmlformats.org/drawingml/2006/main">
              <a:ext uri="{FF2B5EF4-FFF2-40B4-BE49-F238E27FC236}">
                <a16:creationId xmlns:a16="http://schemas.microsoft.com/office/drawing/2014/main" id="{30834984-58CD-47C6-8C63-72B84720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BD10D107-65FB-4F46-B546-6E80F8EB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57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 final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4988C5E-6793-4612-A812-8AB418F6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525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stock-agent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8EC0809-2A72-4983-A0FC-9404DF75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5143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>
                <a:solidFill>
                  <a:srgbClr val="D8E5F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>
                <a:solidFill>
                  <a:srgbClr val="D8E5F7"/>
                </a:solidFill>
                <a:latin typeface="Malgun Gothic"/>
                <a:ea typeface="Malgun Gothic"/>
                <a:cs typeface="Malgun Gothic"/>
              </a:rPr>
              <a:t>개인투자자의 의사결정을 구조화하는 멀티에이전트 분석 보조 시스템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B4880D4D-3D28-4683-81F5-5817FD29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E98F045-20DC-4970-86B7-33FA6857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투자성향과 보유 포트폴리오를 함께 반영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F7A6FA18-6CA2-40FC-B7E8-15D79938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D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57B66A6-F584-4D66-8F7A-22868B7F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624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정량·정성·Peer·거시 데이터를 Agent가 분리 분석</a:t>
            </a:r>
          </a:p>
        </p:txBody>
      </p:sp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A70F03A0-7BFC-4901-8FE7-44437D92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0E1EA92-3A5C-4127-AED1-401C6093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767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투자 권유가 아닌 근거 기반 분석 신호 제공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F69A680-294A-4A0E-A7FF-2684B3FE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2026-06-27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34cb0ee853408b"/>
          <a:srcRect xmlns:a="http://schemas.openxmlformats.org/drawingml/2006/main" l="24803" t="0" r="248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514350"/>
            <a:ext cx="5219700" cy="5829300"/>
          </a:xfrm>
          <a:prstGeom xmlns:a="http://schemas.openxmlformats.org/drawingml/2006/main" prst="roundRect">
            <a:avLst>
              <a:gd name="adj" fmla="val 4380"/>
            </a:avLst>
          </a:prstGeom>
        </p:spPr>
      </p:pic>
    </p:spTree>
    <p:extLst>
      <p:ext uri="{BB962C8B-B14F-4D97-AF65-F5344CB8AC3E}">
        <p14:creationId xmlns:p14="http://schemas.microsoft.com/office/powerpoint/2010/main" val="16024756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4AF9A0FC-AE55-4C6A-A386-C444DB10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17E10F4F-DE30-45A0-95A4-451CFE70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FF238840-9532-418D-B347-72F91375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0AA633F-D610-41A4-93FC-4AF993E7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A150543-D65F-401A-B3BE-2EC5B760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팀 역할: Agent별 책임을 나눠 실제 구현까지 연결했다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194512B-4D52-490F-B231-2707F9BD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PR/README 기반 역할 요약과 마지막 메시지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C5222695-6A63-40C4-BBF8-2A50C922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174AD0C-5A7F-4AAD-9B36-182CEC8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2877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rPr>
              <a:t>이동원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2256BDD-BAA6-4A71-8DFB-D45DEB6D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19250"/>
            <a:ext cx="830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PM·문서/설계·Competitor·평가/CI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E4F1A21F-635D-4887-B0DF-EAF99E00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820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C0855E9-5812-4DE2-8886-257C36B9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1457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백형준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1391855-10AB-4A61-BE2E-4225C442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05050"/>
            <a:ext cx="830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UI·투자성향 intake·LangGraph streaming·LLM 연동</a:t>
            </a:r>
          </a:p>
        </p:txBody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6D4F08D9-ACEC-4845-B685-04ADDD47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5DEAB6F-2D98-4EC2-B179-D6917DAA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037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rPr>
              <a:t>윤수정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100A7D3-DD9D-4131-BBE1-A279292B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90850"/>
            <a:ext cx="830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Quant·Qual 공시·Guardrail·출력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EF8C704E-4013-4F10-8939-C102B56A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820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16F17A8-B6A2-4316-86D8-820CB510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8617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F59E0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59E0B"/>
                </a:solidFill>
                <a:latin typeface="Malgun Gothic"/>
                <a:ea typeface="Malgun Gothic"/>
                <a:cs typeface="Malgun Gothic"/>
              </a:rPr>
              <a:t>문수빈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028ECE7-8A5F-4BC7-B288-E58D8404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76650"/>
            <a:ext cx="830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Macro·Supabase·LangGraph fan-out</a:t>
            </a:r>
          </a:p>
        </p:txBody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00635A24-D287-4DE5-B29B-8A6DA321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820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AB699B0-7355-4981-A0DB-920F05A1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7197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FB718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B7185"/>
                </a:solidFill>
                <a:latin typeface="Malgun Gothic"/>
                <a:ea typeface="Malgun Gothic"/>
                <a:cs typeface="Malgun Gothic"/>
              </a:rPr>
              <a:t>김도예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F4C6FCF-3A30-4801-BD8C-175D8D06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62450"/>
            <a:ext cx="830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뉴스 크롤러·RAG 임베딩·Qual Hybrid 검색</a:t>
            </a:r>
          </a:p>
        </p:txBody>
      </p:sp>
      <p:sp>
        <p:nvSpPr>
          <p:cNvPr id="22" name="surface">
            <a:extLst xmlns:a="http://schemas.openxmlformats.org/drawingml/2006/main">
              <a:ext uri="{FF2B5EF4-FFF2-40B4-BE49-F238E27FC236}">
                <a16:creationId xmlns:a16="http://schemas.microsoft.com/office/drawing/2014/main" id="{F6F25B83-C9C6-4C02-86FB-C2E46FF5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4BAE470-A479-4CB8-B63B-FFD8D558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816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7F7A268-FF35-451D-849C-64D06B18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4352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발표는 팀 역할 → 문제 정의 → Agent 구조 → 시연 영상 → 사업성과 한계 순서로 빠르게 전개한다.</a:t>
            </a:r>
          </a:p>
        </p:txBody>
      </p:sp>
    </p:spTree>
    <p:extLst>
      <p:ext uri="{BB962C8B-B14F-4D97-AF65-F5344CB8AC3E}">
        <p14:creationId xmlns:p14="http://schemas.microsoft.com/office/powerpoint/2010/main" val="14040783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BAA99017-BE0C-440F-B8E7-FDAD2D8B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3BA4EB8B-F116-4E7E-928A-B3E41990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4E2A1E4-FF15-48C5-84FF-88E468D0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31C95B1-297D-4BEF-BE06-37D27593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6CF2009-441F-4264-87A5-261CDFDD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개인투자 시장은 커졌지만 판단 부담도 커졌다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901A128-55BC-4187-8DF6-8585F6C0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시장 확대와 판단 복잡도 상승을 한 장에 압축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AA66CE19-0757-43BA-8DB9-5B227559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4798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5496D"/>
            </a:solidFill>
            <a:prstDash val="solid"/>
          </a:ln>
        </p:spPr>
      </p:sp>
      <p:sp>
        <p:nvSpPr>
          <p:cNvPr id="8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2D58CD6A-2D04-4C3F-9B20-B71E6465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479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B2EF938-26CB-4466-9F2F-B7B40E0E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302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개인투자자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2235FFB-5CAC-4D4B-9123-5603E45A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3022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60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rPr>
              <a:t>1,442만 명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9128BF3-439C-4673-A9D1-E919273F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302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>
                <a:solidFill>
                  <a:srgbClr val="B8C8D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B8C8DF"/>
                </a:solidFill>
                <a:latin typeface="Malgun Gothic"/>
                <a:ea typeface="Malgun Gothic"/>
                <a:cs typeface="Malgun Gothic"/>
              </a:rPr>
              <a:t>2025년 말 개인 기준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179175AE-4E60-4F2F-8250-74187E8F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1676400"/>
            <a:ext cx="34798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5496D"/>
            </a:solidFill>
            <a:prstDash val="solid"/>
          </a:ln>
        </p:spPr>
      </p:sp>
      <p:sp>
        <p:nvSpPr>
          <p:cNvPr id="13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D44B7DBB-E9D3-4EC1-8A29-1B5A9532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1676400"/>
            <a:ext cx="3479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A50296A-4BB6-41CC-9EB8-99B89F55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1905000"/>
            <a:ext cx="302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주식거래 활동계좌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C396399-5285-4F38-A962-E384E674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305050"/>
            <a:ext cx="3022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1억 500만 개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D4CB802-E5D3-409E-B170-13F0C7E6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933700"/>
            <a:ext cx="302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>
                <a:solidFill>
                  <a:srgbClr val="B8C8D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B8C8DF"/>
                </a:solidFill>
                <a:latin typeface="Malgun Gothic"/>
                <a:ea typeface="Malgun Gothic"/>
                <a:cs typeface="Malgun Gothic"/>
              </a:rPr>
              <a:t>2026.04.29 금융투자협회</a:t>
            </a:r>
          </a:p>
        </p:txBody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8683353C-3162-461D-B4B0-81FBC04A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676400"/>
            <a:ext cx="34798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5496D"/>
            </a:solidFill>
            <a:prstDash val="solid"/>
          </a:ln>
        </p:spPr>
      </p:sp>
      <p:sp>
        <p:nvSpPr>
          <p:cNvPr id="18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DA0A0F85-6A73-4F68-933C-DB4C4A37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676400"/>
            <a:ext cx="3479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723017E-C5EC-40B6-B19B-F06AAD85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1905000"/>
            <a:ext cx="302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개인 MTS 거래 비중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E5000F6-F150-43FA-A6DC-581D9CF8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305050"/>
            <a:ext cx="3022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60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rPr>
              <a:t>65.7%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3000CEC-6465-4DE7-930A-C769A687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933700"/>
            <a:ext cx="302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>
                <a:solidFill>
                  <a:srgbClr val="B8C8D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B8C8DF"/>
                </a:solidFill>
                <a:latin typeface="Malgun Gothic"/>
                <a:ea typeface="Malgun Gothic"/>
                <a:cs typeface="Malgun Gothic"/>
              </a:rPr>
              <a:t>2026년 1~5월 한국거래소</a:t>
            </a:r>
          </a:p>
        </p:txBody>
      </p:sp>
      <p:sp>
        <p:nvSpPr>
          <p:cNvPr id="22" name="surface">
            <a:extLst xmlns:a="http://schemas.openxmlformats.org/drawingml/2006/main">
              <a:ext uri="{FF2B5EF4-FFF2-40B4-BE49-F238E27FC236}">
                <a16:creationId xmlns:a16="http://schemas.microsoft.com/office/drawing/2014/main" id="{52EA7D59-5604-4438-9529-101A82E8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1393C77-4861-4535-B68A-B34FE782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01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EF71760-B49C-4004-A1EE-47030E3D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77202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투자는 대중화되었지만, 판단은 더 빠르고 복잡한 모바일 환경으로 이동했다.</a:t>
            </a:r>
          </a:p>
        </p:txBody>
      </p:sp>
    </p:spTree>
    <p:extLst>
      <p:ext uri="{BB962C8B-B14F-4D97-AF65-F5344CB8AC3E}">
        <p14:creationId xmlns:p14="http://schemas.microsoft.com/office/powerpoint/2010/main" val="19364464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99D5D56C-B7EE-4B4D-BAD6-64720DC9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90BAD35D-1658-4A05-8E3F-824F36D5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EFE19B9-0423-4AF8-8635-AD6801F5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F67EA2B-E2DC-4317-9854-1844D337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7536554-DBEE-47DA-A208-EC3E7E88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문제: 정보는 많지만 근거 있는 통합 판단은 어렵다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CB4A1D2-1165-40CD-BE62-24ABAA05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정보 과잉, 모바일 즉시성, 낮은 맥락화가 함께 만든 의사결정 공백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A92BC888-C766-4539-9B76-0037F649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84867"/>
            </a:solidFill>
            <a:prstDash val="solid"/>
          </a:ln>
        </p:spPr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E458C24-F1B3-42A2-B469-D8245068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48377C4-9818-4C6E-8E9D-A7A46AC7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57375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1EA78CE-C0F8-4269-BC2F-D3E64B7E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52600"/>
            <a:ext cx="942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1~3종목 집중투자 비중 59.7%: 포트폴리오 리스크가 개인에게 집중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B46E3A47-50E5-467A-B33E-EE797F31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8204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84867"/>
            </a:solidFill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79F9B810-CF20-41E3-B7DC-58AC2FED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179CEE1-F61B-48A6-A40B-AEF58101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0A6EFD6-96F7-43D9-ABC7-A9F0DDAD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19400"/>
            <a:ext cx="942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디지털 금융이해력 59.3점: 모바일 금융 사용은 보편화됐지만 이해도는 부족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D94760F1-4B37-4CDC-9011-4DA5A8AB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84867"/>
            </a:solidFill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7170A990-249B-4E29-93F5-166087CD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676B638-DAD2-4D38-AED6-4C6CBF15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90975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E126DC5-F4B3-430D-AE3E-D4BCCE84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86200"/>
            <a:ext cx="942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개인 평균 수익률 부진: 흩어진 정보가 행동 편향을 줄여주지 못함</a:t>
            </a:r>
          </a:p>
        </p:txBody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50B840CE-4520-4E0C-8028-CF1B881F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A016F5C-3580-4F5D-B4C9-17C8E050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054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1C2CB8C-941C-4DD2-BDA9-6D83E889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26732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핵심 문제는 정보 부족이 아니라, 흩어진 정보를 내 포트폴리오 맥락에서 해석하는 능력의 부족이다.</a:t>
            </a:r>
          </a:p>
        </p:txBody>
      </p:sp>
    </p:spTree>
    <p:extLst>
      <p:ext uri="{BB962C8B-B14F-4D97-AF65-F5344CB8AC3E}">
        <p14:creationId xmlns:p14="http://schemas.microsoft.com/office/powerpoint/2010/main" val="13351730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8D0B2BAD-207B-4AA3-A37F-077BEDFE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A4B04410-F36A-4E1B-B416-F9A8DE90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F92E37C4-1A4C-4D9E-910A-D5D26729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F2A8B91-3AE3-44BB-89A5-7A70B0B5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21F206E-4238-4906-8DB8-3E59A0CC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기존 대안은 한 가지 축만 해결한다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07A577F-F3E4-43DD-AE90-2858660A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각 대안은 강점이 있지만 세 공백을 동시에 닫지는 못함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1562100"/>
          <a:ext xmlns:a="http://schemas.openxmlformats.org/drawingml/2006/main" cx="10820400" cy="3105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95450"/>
                <a:gridCol w="1352550"/>
                <a:gridCol w="1352550"/>
                <a:gridCol w="1352550"/>
                <a:gridCol w="5067300"/>
              </a:tblGrid>
              <a:tr h="62103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7D3D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대안</a:t>
                      </a:r>
                    </a:p>
                  </a:txBody>
                  <a:tcPr marL="91440" marR="91440" marT="45720" marB="45720">
                    <a:solidFill>
                      <a:srgbClr val="1023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7D3D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포트폴리오 맥락</a:t>
                      </a:r>
                    </a:p>
                  </a:txBody>
                  <a:tcPr marL="91440" marR="91440" marT="45720" marB="45720">
                    <a:solidFill>
                      <a:srgbClr val="1023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7D3D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멀티 관점</a:t>
                      </a:r>
                    </a:p>
                  </a:txBody>
                  <a:tcPr marL="91440" marR="91440" marT="45720" marB="45720">
                    <a:solidFill>
                      <a:srgbClr val="1023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7D3D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안전 검증</a:t>
                      </a:r>
                    </a:p>
                  </a:txBody>
                  <a:tcPr marL="91440" marR="91440" marT="45720" marB="45720">
                    <a:solidFill>
                      <a:srgbClr val="1023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7D3D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한계</a:t>
                      </a:r>
                    </a:p>
                  </a:txBody>
                  <a:tcPr marL="91440" marR="91440" marT="45720" marB="45720">
                    <a:solidFill>
                      <a:srgbClr val="10233B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증권사 MTS</a:t>
                      </a:r>
                    </a:p>
                  </a:txBody>
                  <a:tcPr marL="91440" marR="91440" marT="45720" marB="45720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정보는 많지만 종합 판단은 사용자 몫</a:t>
                      </a:r>
                    </a:p>
                  </a:txBody>
                  <a:tcPr marL="91440" marR="91440" marT="45720" marB="45720">
                    <a:solidFill>
                      <a:srgbClr val="0F1B2E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로보어드바이저</a:t>
                      </a:r>
                    </a:p>
                  </a:txBody>
                  <a:tcPr marL="91440" marR="91440" marT="45720" marB="45720"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자산배분 중심, 개별 종목 근거 설명 약함</a:t>
                      </a:r>
                    </a:p>
                  </a:txBody>
                  <a:tcPr marL="91440" marR="91440" marT="45720" marB="45720">
                    <a:solidFill>
                      <a:srgbClr val="16243A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범용 LLM</a:t>
                      </a:r>
                    </a:p>
                  </a:txBody>
                  <a:tcPr marL="91440" marR="91440" marT="45720" marB="45720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×</a:t>
                      </a:r>
                    </a:p>
                  </a:txBody>
                  <a:tcPr marL="91440" marR="91440" marT="45720" marB="45720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×</a:t>
                      </a:r>
                    </a:p>
                  </a:txBody>
                  <a:tcPr marL="91440" marR="91440" marT="45720" marB="45720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실시간 데이터·출처·환각 통제 한계</a:t>
                      </a:r>
                    </a:p>
                  </a:txBody>
                  <a:tcPr marL="91440" marR="91440" marT="45720" marB="45720">
                    <a:solidFill>
                      <a:srgbClr val="0F1B2E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stock-agent</a:t>
                      </a:r>
                    </a:p>
                  </a:txBody>
                  <a:tcPr marL="91440" marR="91440" marT="45720" marB="45720">
                    <a:solidFill>
                      <a:srgbClr val="0B2A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solidFill>
                      <a:srgbClr val="0B2A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solidFill>
                      <a:srgbClr val="0B2A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solidFill>
                      <a:srgbClr val="0B2A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DF5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포트폴리오 맥락에서 Agent별 근거를 합성</a:t>
                      </a:r>
                    </a:p>
                  </a:txBody>
                  <a:tcPr marL="91440" marR="91440" marT="45720" marB="45720">
                    <a:solidFill>
                      <a:srgbClr val="0B2A35"/>
                    </a:solidFill>
                  </a:tcPr>
                </a:tc>
              </a:tr>
            </a:tbl>
          </a:graphicData>
        </a:graphic>
      </p:graphicFrame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F2A0CBEB-2AB0-43E9-8964-A482CEA7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F10F38C-8915-406D-8FC8-F42D9DA7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292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1EAE121-A590-4C19-A04C-47D0DBC9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9112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시장 공백은 내 보유 종목 기준으로 여러 근거를 검증해주는 분석 보조다.</a:t>
            </a:r>
          </a:p>
        </p:txBody>
      </p:sp>
    </p:spTree>
    <p:extLst>
      <p:ext uri="{BB962C8B-B14F-4D97-AF65-F5344CB8AC3E}">
        <p14:creationId xmlns:p14="http://schemas.microsoft.com/office/powerpoint/2010/main" val="5168571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13EFC0B5-9283-4A94-A973-6383661C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F09B2960-62AA-4E1F-819A-1AD00EC2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240C57DF-67D4-4C5C-9DD7-ED662073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6049CEF-B3A5-435E-A5D5-838B83B6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04E3466-6BDC-46AC-BC97-868EDC5A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왜 멀티 Agent인가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92E5F8B-C337-4744-8EBA-6475806E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LLM 하나가 아니라 역할 분리, 근거 통합, 안전검증을 분리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7E16D2DA-529A-4D50-8412-D1409286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32447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B2564474-15DF-4209-9096-1D27855E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98A119F-6B5D-4802-B398-F3FA3E35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DDBB6D1-0074-44C6-B0B2-C6937E4A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43075"/>
            <a:ext cx="45053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계산과 해석 분리: 정량 수치는 Tool/DB가 만들고 LLM은 설명과 합성에 집중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16E05ED5-2899-4CC0-83D8-029A065D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581150"/>
            <a:ext cx="532447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65676684-6B04-4D7E-98E1-4D4F34B1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7526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D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B0C97B1-3FBB-4D56-BE9E-1CEA119C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809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E01067F-DDA0-46B8-AC09-034991F3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43075"/>
            <a:ext cx="45053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관점 분리: Quant·Qual·Peer·Macro가 서로 다른 실패 범위와 책임을 가짐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A3B494EE-CDAB-40BB-A3AE-DC8C8F44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532447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19D73011-D6C2-43E1-991D-20E1EA1C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DDCA210-2B26-4C35-BD13-0E6629B0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A5A84FA-BD93-4436-87A3-A3B8BB79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71825"/>
            <a:ext cx="45053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부분 실패 허용: 한 Agent가 실패해도 fallback과 warning으로 분석 흐름 유지</a:t>
            </a:r>
          </a:p>
        </p:txBody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1592EE10-58C0-48AB-B4DD-77B54428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009900"/>
            <a:ext cx="532447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C04FB6E4-5606-429F-B95D-232789CF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1813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1429E95-B6C7-479C-851D-1EC88122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2385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E86D937-2CE6-46E5-A048-BCBE95BC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71825"/>
            <a:ext cx="45053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최종 안전 검증: Guardrail이 투자 권유, PII, 근거 부족 표현을 마지막에 점검</a:t>
            </a:r>
          </a:p>
        </p:txBody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83D7BD37-AD71-4F36-8AA5-9BDC721A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D3F0B56-A4FC-4084-8FFE-1D579E55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625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C8115FD-D5F7-4806-8BCB-651EF8A7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2447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한 모델이 모든 판단을 말하는 구조보다, 역할을 나눠 계산·검색·합성·검증을 분리하는 구조가 더 설명 가능하다.</a:t>
            </a:r>
          </a:p>
        </p:txBody>
      </p:sp>
    </p:spTree>
    <p:extLst>
      <p:ext uri="{BB962C8B-B14F-4D97-AF65-F5344CB8AC3E}">
        <p14:creationId xmlns:p14="http://schemas.microsoft.com/office/powerpoint/2010/main" val="9571409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07CF53F4-F882-44EE-940F-757F2E38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A6320F5F-6301-4EC1-86DA-DFC743BB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0E63FDF-6B95-482C-86F0-A8639640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B4DBE78-7363-44D7-9C8D-3E02A2D5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BA97371-C57B-4E54-8704-DF0D1F78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시스템 구성: UI, DB/RAG, LangGraph, 안전 검증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9088265-8A75-49F7-99F6-D5EEB0B1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README의 실제 구성도를 발표용으로 재사용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A5D90F9D-03C4-4A8E-A6C6-4582D693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41719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63B5E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Streamlit UI에서 온보딩과 결과를 제공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D79B67DD-1036-46D6-BAB6-19AB1681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1719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63B5E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PostgreSQL + pgvector로 정형 데이터와 RAG 검색 통합</a:t>
            </a:r>
          </a:p>
        </p:txBody>
      </p:sp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31FC681F-A671-4C1A-A341-0D369136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41719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63B5E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LangGraph StateGraph와 Send API로 worker Agent 동적 fan-out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8C3C7FC2-8B4B-4233-956D-DC4CF636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1719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63B5E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LLM은 해석·합성에 사용하고, Guardrail은 규칙 기반으로 검증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9bdf67bcd4764"/>
          <a:stretch xmlns:a="http://schemas.openxmlformats.org/drawingml/2006/main"/>
        </p:blipFill>
        <p:spPr>
          <a:xfrm xmlns:a="http://schemas.openxmlformats.org/drawingml/2006/main">
            <a:off x="5124450" y="1547454"/>
            <a:ext cx="6381750" cy="3591643"/>
          </a:xfrm>
          <a:prstGeom xmlns:a="http://schemas.openxmlformats.org/drawingml/2006/main" prst="roundRect">
            <a:avLst>
              <a:gd name="adj" fmla="val 4569"/>
            </a:avLst>
          </a:prstGeom>
        </p:spPr>
      </p:pic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6BB527C9-CA9A-4076-9CD5-E3C17C88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223B19D-4E7F-4AF8-A450-7D3821ED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02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C99B263-57A7-4F5E-88C1-F3CA06F8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7212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LangGraph가 worker Agent를 분리하고 DB/RAG/Guardrail이 근거와 안전성을 보완</a:t>
            </a:r>
          </a:p>
        </p:txBody>
      </p:sp>
    </p:spTree>
    <p:extLst>
      <p:ext uri="{BB962C8B-B14F-4D97-AF65-F5344CB8AC3E}">
        <p14:creationId xmlns:p14="http://schemas.microsoft.com/office/powerpoint/2010/main" val="17259347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8102324B-0E6F-4C47-ACAB-F14B5B5B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66A0A22B-8CAC-418E-8853-613C268B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82F2551-9D80-4A5E-A58D-DDD9B8CB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41429C0-9CA1-410E-81FA-A3175068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C2B5C61-A1BC-4E28-9AA2-28057088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11노드 Agent 파이프라인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3977711-D5DB-435F-8AC2-36E01E75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Classifier 이후 필요한 worker를 fan-out하고 Strategist에서 join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739AC0D9-8148-4109-8D05-7AB06989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14287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4F8EF7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F5258F2-2023-4321-AC15-3D4DC689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Curator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200B9-E0F8-436D-98FF-2154A709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09750"/>
            <a:ext cx="514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69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EA1A95B2-AEAE-4B7B-8EBD-BC765677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38300"/>
            <a:ext cx="15049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07598E8-17AA-47CE-A32D-91509C53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81175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Classifier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E0846187-7265-496F-BA25-12E5D15D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18478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33B"/>
          </a:solidFill>
          <a:ln xmlns:a="http://schemas.openxmlformats.org/drawingml/2006/main" w="9525">
            <a:solidFill>
              <a:srgbClr val="4F8EF7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A202E80-AB96-4285-96AD-470FDD95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3370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Quant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33F188CB-70D0-4F03-846A-5D1DFC74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24150"/>
            <a:ext cx="18478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33B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6D737F6-6315-4073-A467-6F6536D4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3370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Qual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198C9D10-D483-42ED-A99C-A04CE58A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18478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33B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D49BC72-D5DF-424D-AA6A-5FDBF87C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3370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Competitor</a:t>
            </a:r>
          </a:p>
        </p:txBody>
      </p:sp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32E7FD65-3A12-4A8E-8BA5-D35315A2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24150"/>
            <a:ext cx="18478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33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EBA1881-2071-4F72-A119-301C3F0D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3370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Macro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D68BDF0-2302-4CF9-91DA-EDB99983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431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parallel worker Agents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53CA7A-C286-4E9E-B675-EC7682B0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52650"/>
            <a:ext cx="0" cy="4572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63B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7F89B1-4CB8-409E-BDBF-AD777DDB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476500"/>
            <a:ext cx="16287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63B5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C2CCE2-0D40-47E7-9458-D71AE9D1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76500"/>
            <a:ext cx="160972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63B5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AA3E1A-D2D6-4AC8-9AFE-5459E952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5906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63B5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EC32FD-D686-4D3D-9E49-DF711724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476500"/>
            <a:ext cx="157162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63B5E"/>
            </a:solidFill>
            <a:prstDash val="solid"/>
          </a:ln>
        </p:spPr>
      </p:sp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6F983CF3-20C5-461C-B159-AF7CE61D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57650"/>
            <a:ext cx="16192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FCCFF389-28F5-4653-A054-3DBA6A9D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2005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Strategist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0D3CA3-3448-4F6E-891E-33A7FE46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43300"/>
            <a:ext cx="0" cy="400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63B5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053043-5663-45AD-9D0C-F544F1CA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29100"/>
            <a:ext cx="514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69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surface">
            <a:extLst xmlns:a="http://schemas.openxmlformats.org/drawingml/2006/main">
              <a:ext uri="{FF2B5EF4-FFF2-40B4-BE49-F238E27FC236}">
                <a16:creationId xmlns:a16="http://schemas.microsoft.com/office/drawing/2014/main" id="{EFEAEA93-2D54-418A-A83D-3885E650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57650"/>
            <a:ext cx="20955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4F8EF7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B3CF363C-B38D-4AB5-87FF-2B2AF1BE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00525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InvestmentAnalyst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4D55D3-A5F8-4E1C-BEB9-9441D7EF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29100"/>
            <a:ext cx="4381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69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surface">
            <a:extLst xmlns:a="http://schemas.openxmlformats.org/drawingml/2006/main">
              <a:ext uri="{FF2B5EF4-FFF2-40B4-BE49-F238E27FC236}">
                <a16:creationId xmlns:a16="http://schemas.microsoft.com/office/drawing/2014/main" id="{5CED7B3D-5D87-445D-B08B-C0D0B627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57650"/>
            <a:ext cx="13716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3365AAAC-FC1C-4E3C-B568-C2E3BC85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200525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Guardrail</a:t>
            </a:r>
          </a:p>
        </p:txBody>
      </p:sp>
      <p:sp>
        <p:nvSpPr>
          <p:cNvPr id="35" name="surface">
            <a:extLst xmlns:a="http://schemas.openxmlformats.org/drawingml/2006/main">
              <a:ext uri="{FF2B5EF4-FFF2-40B4-BE49-F238E27FC236}">
                <a16:creationId xmlns:a16="http://schemas.microsoft.com/office/drawing/2014/main" id="{289774BF-31E9-4FC2-81B6-A143A29B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010150"/>
            <a:ext cx="18859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C2A527E8-9217-4817-A0FC-3FE1E31F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5302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GuardrailApply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311C58-D97B-4A0B-89AD-8A78D19E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81600"/>
            <a:ext cx="476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69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surface">
            <a:extLst xmlns:a="http://schemas.openxmlformats.org/drawingml/2006/main">
              <a:ext uri="{FF2B5EF4-FFF2-40B4-BE49-F238E27FC236}">
                <a16:creationId xmlns:a16="http://schemas.microsoft.com/office/drawing/2014/main" id="{F2F47D4D-2DEF-4F63-A0D1-673B69C1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10150"/>
            <a:ext cx="19240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2C85430C-4C78-4CAC-9773-A5879971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53025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ResultRenderer</a:t>
            </a:r>
          </a:p>
        </p:txBody>
      </p:sp>
      <p:sp>
        <p:nvSpPr>
          <p:cNvPr id="40" name="surface">
            <a:extLst xmlns:a="http://schemas.openxmlformats.org/drawingml/2006/main">
              <a:ext uri="{FF2B5EF4-FFF2-40B4-BE49-F238E27FC236}">
                <a16:creationId xmlns:a16="http://schemas.microsoft.com/office/drawing/2014/main" id="{C19ACFF0-B3E2-42A6-AD99-03734D05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BA9A8354-EF02-4480-92BB-6AACF608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0293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2C19A03C-7EAC-4BF7-A787-06EBCF95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99122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Classifier 이후 필요한 worker를 병렬 실행하고, Strategist에서 join한 뒤 Analyst와 Guardrail을 통과한다.</a:t>
            </a:r>
          </a:p>
        </p:txBody>
      </p:sp>
    </p:spTree>
    <p:extLst>
      <p:ext uri="{BB962C8B-B14F-4D97-AF65-F5344CB8AC3E}">
        <p14:creationId xmlns:p14="http://schemas.microsoft.com/office/powerpoint/2010/main" val="4523851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3DEB5B88-F7F6-48A5-ACDD-93617A38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9358078D-A23C-44B5-956F-CC16AC4D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51186BD3-1E2A-4B20-95BC-6259669A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F8AC484-8401-40B6-86CA-D59B1210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0FCAFB4-5D65-4FF8-96BA-5494C87B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Curator·RequestClassifier: 질문을 실행 계획으로 바꾼다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8FF5829-317D-46E2-BEB1-D67FE280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사용자 자연어와 포트폴리오를 분석 가능한 종목·섹터·worker_plan으로 구조화하는 앞단 Agent입니다.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75D1112F-7D2A-4EDA-B33B-F0ED2E17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4F8EF7"/>
            </a:solidFill>
            <a:prstDash val="solid"/>
          </a:ln>
        </p:spPr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1E46AC4B-487A-4AF3-9117-FCB4C306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85BE285-521A-419E-B590-BF48D891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3265055-3FEF-415F-93E7-7FC8900F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사용자 질의·보유 포트폴리오 수신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2A2B0E95-BC9E-4C53-8BAD-8550B0B9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3EC8367F-B56A-447F-A93A-B5315E92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D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E3F13E2-BDD9-4C8B-8E93-18A98C5D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0F2F75F-1BB0-4C1F-B405-E50B70B3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분석 대상 종목/후보와 섹터 확정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834B269C-E2F8-4F0F-A383-1925C128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4BA03CCD-B73D-4367-9CE4-A7615ACB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7F4D508-4BE7-4B20-9CE4-91B23BB1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A96EB5F-B2EB-4174-B778-7D3DB2CF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intent·scope·urgency·depth 분류</a:t>
            </a:r>
          </a:p>
        </p:txBody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89ECBB84-D59A-4A25-AD49-752A5910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113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3544F2A8-B7CE-455B-9887-22D05988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DCFBEBB-2096-4A1C-A59B-11645ABB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93852BA-CDA3-4BA8-962C-969CC509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Quant·Qual·Competitor·Macro worker_plan 생성</a:t>
            </a:r>
          </a:p>
        </p:txBody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73CF23DD-EE40-422B-8F03-96537638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6AE45F9-93A2-4282-AA6D-CBBF8920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rPr>
              <a:t>Input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6D8B664-46E3-4B34-9887-FFA4F736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user_query, portfolio, onboarding profile</a:t>
            </a:r>
          </a:p>
        </p:txBody>
      </p:sp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6B548763-3104-45D9-94E9-15233FF3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D5EABE5-3B39-4EC0-92FD-9BFBD45A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Decision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EA941CE8-7B5F-4B50-BCCB-AA40252E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single_stock / sector / portfolio 범위와 macro 실행 여부</a:t>
            </a:r>
          </a:p>
        </p:txBody>
      </p:sp>
      <p:sp>
        <p:nvSpPr>
          <p:cNvPr id="29" name="surface">
            <a:extLst xmlns:a="http://schemas.openxmlformats.org/drawingml/2006/main">
              <a:ext uri="{FF2B5EF4-FFF2-40B4-BE49-F238E27FC236}">
                <a16:creationId xmlns:a16="http://schemas.microsoft.com/office/drawing/2014/main" id="{6E2821A5-A814-4D6B-A56A-B50563B2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27C84976-62BE-429E-AB46-B7E0F964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rPr>
              <a:t>Output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80412F26-EE11-4E7D-94BF-89C1C8D3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CuratorResult, RequestClassification, graph_route</a:t>
            </a:r>
          </a:p>
        </p:txBody>
      </p:sp>
      <p:sp>
        <p:nvSpPr>
          <p:cNvPr id="32" name="surface">
            <a:extLst xmlns:a="http://schemas.openxmlformats.org/drawingml/2006/main">
              <a:ext uri="{FF2B5EF4-FFF2-40B4-BE49-F238E27FC236}">
                <a16:creationId xmlns:a16="http://schemas.microsoft.com/office/drawing/2014/main" id="{B3F4128B-ED08-4AD0-AF71-45B49310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29DD00D5-4EEB-4C21-A9EB-5EF8B488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97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935B3283-D05E-423D-9D30-3BD4ED2F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8162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Agent 구조의 출발점은 '무엇을 분석할지'와 '어떤 Agent를 실행할지'를 먼저 고정하는 것이다.</a:t>
            </a:r>
          </a:p>
        </p:txBody>
      </p:sp>
    </p:spTree>
    <p:extLst>
      <p:ext uri="{BB962C8B-B14F-4D97-AF65-F5344CB8AC3E}">
        <p14:creationId xmlns:p14="http://schemas.microsoft.com/office/powerpoint/2010/main" val="12758585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F03EB25A-3ACD-4ABA-9006-5300CB92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6F1C9D57-6C83-4E4E-AB5A-8182C63B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2EEA406B-0D4E-4F21-99B4-CCB55FE4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2EC951C-5FE5-47F9-A324-EE9BEE10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BA4139C-0197-41BD-B4DB-264565E8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Quant Agent: LLM이 숫자를 만들지 않게 한다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55C9EDB-E353-4DDD-8517-ABCB43D6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DART 재무와 pykrx 시세를 기반으로 PER/PBR, 성장률, 수익성, 재무 리스크를 계산합니다.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F9F0F874-A7B0-4EB6-9642-6722CABB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4F8EF7"/>
            </a:solidFill>
            <a:prstDash val="solid"/>
          </a:ln>
        </p:spPr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69B5113C-404B-481B-BBBA-9CF08E31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DCCC4AC-E807-401B-828A-C36B9A61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7D13BDF-9A64-4555-83CD-1AA87938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Curator가 확정한 stock_code/corp_code 수신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7F516380-6CAA-4BFB-82DC-3FB627B7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D7D3E857-FAB9-4524-A9F2-F33F14D7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D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1B370A6-DF49-4FC0-8095-04C99BC1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A3C0598-4D54-4331-9E41-1B3B0E05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시세와 재무제표 Tool 호출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9EFFB1A5-6BF9-45A4-B767-C63CC3CE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6E788EB8-4994-42FC-B882-41E83EF2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4914D70-4440-43E8-9A6F-CD73E592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72875F9-FD7A-4829-BA42-5F967249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PER/PBR/성장률/부채비율 등 지표 계산</a:t>
            </a:r>
          </a:p>
        </p:txBody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FCE4CE8C-5313-42A5-832D-DBC6C96B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113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09721BDD-E056-4F0A-9866-716F5DFB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F5E03D6-5306-4F1D-82EF-AB42E928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9E53725-96CC-4A53-A81E-F3D5E54F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score, valuation_signal, reasons, risks 반환</a:t>
            </a:r>
          </a:p>
        </p:txBody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0390AA6C-BCCF-4E89-8A39-254C3D5B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A2178F1-EE39-4695-9882-D66810DE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rPr>
              <a:t>원칙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D77D2C8-E24F-464B-AD0A-AE7BFD11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수치 생성은 Tool/DB 담당, LLM은 임의 보정 금지</a:t>
            </a:r>
          </a:p>
        </p:txBody>
      </p:sp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8CDACD63-3CA9-42BA-BB45-8B35814C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D902ACBC-A771-4E9A-B47F-4A87EDB6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Fallback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71DF95C-8FFD-4F40-A69C-24A9FEC4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DB/API 실패 시 보수적 fallback과 warning 남김</a:t>
            </a:r>
          </a:p>
        </p:txBody>
      </p:sp>
      <p:sp>
        <p:nvSpPr>
          <p:cNvPr id="29" name="surface">
            <a:extLst xmlns:a="http://schemas.openxmlformats.org/drawingml/2006/main">
              <a:ext uri="{FF2B5EF4-FFF2-40B4-BE49-F238E27FC236}">
                <a16:creationId xmlns:a16="http://schemas.microsoft.com/office/drawing/2014/main" id="{A7D72CD7-C18E-4D39-B5BE-F6D9DF59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0F9A6C68-8810-4FF8-933E-208BD22D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rPr>
              <a:t>전달값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27930876-A8B2-4069-ADE0-FFDC0746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Strategist가 가중 합성할 정량 score와 핵심 이유</a:t>
            </a:r>
          </a:p>
        </p:txBody>
      </p:sp>
      <p:sp>
        <p:nvSpPr>
          <p:cNvPr id="32" name="surface">
            <a:extLst xmlns:a="http://schemas.openxmlformats.org/drawingml/2006/main">
              <a:ext uri="{FF2B5EF4-FFF2-40B4-BE49-F238E27FC236}">
                <a16:creationId xmlns:a16="http://schemas.microsoft.com/office/drawing/2014/main" id="{B27562D3-3C6B-4483-9C42-40A8E6FE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297CBF55-FADF-4B55-B60B-71D0CC5A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97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368D1A53-EF4E-4F08-A45E-27FE26B5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8162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정량 Agent는 설명 가능한 계산 근거를 제공해 LLM 환각 위험을 낮춘다.</a:t>
            </a:r>
          </a:p>
        </p:txBody>
      </p:sp>
    </p:spTree>
    <p:extLst>
      <p:ext uri="{BB962C8B-B14F-4D97-AF65-F5344CB8AC3E}">
        <p14:creationId xmlns:p14="http://schemas.microsoft.com/office/powerpoint/2010/main" val="14120990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3C0946BF-BB29-44CA-9AB9-E3882978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66B78E29-F0E4-49E1-8689-1CBCE8CD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BB4E7FA0-B9E0-41CB-BCBB-148C08B2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226519E-9542-43CC-8D59-87BFE7C0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BA19861-CDA8-4401-8AFF-043B00F8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Qual Agent: 뉴스 수집에서 evidence/risk까지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A21B58C-123D-4E2E-8376-EC74BC23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팀원이 정리한 뉴스 수집 → RAG 임베딩 → Hybrid/RRF 검색 → reranker → Qual evidence/risk 생성 흐름을 발표용으로 압축했습니다.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D28749EA-0C54-4609-AE25-A45E289F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07264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4F8EF7"/>
            </a:solidFill>
            <a:prstDash val="solid"/>
          </a:ln>
        </p:spPr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76670742-ADE3-487A-B9CF-AACACD3C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552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4F8EF7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F3CA345-6E57-4E68-8682-DDF102FE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72974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rPr>
              <a:t>뉴스 수집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FB53CEF-1731-4133-AAC0-4F241D3E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17297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네이버 금융 종목 뉴스와 공시 문서 적재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FC3E1868-B619-4818-A915-C5223D9C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" y="1657350"/>
            <a:ext cx="207264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B11DFEC4-747E-4706-A64C-DD413201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1847850"/>
            <a:ext cx="552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DC7A43D-9E3E-4566-826D-3B94473F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2266950"/>
            <a:ext cx="172974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RAG 임베딩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03FB2BE-DFEF-4FF6-BF77-92C967ED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2686050"/>
            <a:ext cx="17297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raw_news → docs/chunks, bge-m3 벡터화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71DC3251-43A4-41EE-9FC8-66D7332A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1657350"/>
            <a:ext cx="207264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C4A0EEBE-4A6E-44CE-A2C9-91849F12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1847850"/>
            <a:ext cx="552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8CD37E3-B40F-43E4-B516-8017AF59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2266950"/>
            <a:ext cx="172974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rPr>
              <a:t>Hybrid/RRF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B6584F7-5661-45EB-8993-416228B4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2686050"/>
            <a:ext cx="17297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pgvector 의미 검색 + keyword ts_rank를 RRF로 결합</a:t>
            </a:r>
          </a:p>
        </p:txBody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5B52DE1F-ADFA-4742-9699-EB63A5C5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1657350"/>
            <a:ext cx="207264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798B1D57-47DD-4282-88B8-C7E15173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1847850"/>
            <a:ext cx="552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9E0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59E0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CC94475-71AE-4FC2-B0F5-4EFC1E73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266950"/>
            <a:ext cx="172974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F59E0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59E0B"/>
                </a:solidFill>
                <a:latin typeface="Malgun Gothic"/>
                <a:ea typeface="Malgun Gothic"/>
                <a:cs typeface="Malgun Gothic"/>
              </a:rPr>
              <a:t>Reranker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4657B67-7314-4FAB-86FD-B3CB9C70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686050"/>
            <a:ext cx="17297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선택적으로 top-k 후보를 cross-encoder 기준 재정렬</a:t>
            </a:r>
          </a:p>
        </p:txBody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9BBB26F0-D1FD-4F28-BF9C-54F8C760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1657350"/>
            <a:ext cx="207264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829D210D-312C-4583-8B2D-4340062A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1847850"/>
            <a:ext cx="552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B71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B718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8BD1132-349B-40C6-B842-03F40109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2266950"/>
            <a:ext cx="172974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FB718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B7185"/>
                </a:solidFill>
                <a:latin typeface="Malgun Gothic"/>
                <a:ea typeface="Malgun Gothic"/>
                <a:cs typeface="Malgun Gothic"/>
              </a:rPr>
              <a:t>QualResult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0E580AE9-38A6-4165-A7C0-B9D19CD8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2686050"/>
            <a:ext cx="17297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evidence, sentiment, event_type, risk, fallback_reason 생성</a:t>
            </a:r>
          </a:p>
        </p:txBody>
      </p:sp>
      <p:sp>
        <p:nvSpPr>
          <p:cNvPr id="27" name="surface">
            <a:extLst xmlns:a="http://schemas.openxmlformats.org/drawingml/2006/main">
              <a:ext uri="{FF2B5EF4-FFF2-40B4-BE49-F238E27FC236}">
                <a16:creationId xmlns:a16="http://schemas.microsoft.com/office/drawing/2014/main" id="{540F46E4-03BE-4865-934D-C458265A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33375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379D0D9-6580-49B4-8556-79C6159A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담당 자료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79BBA96-AFDB-4C72-BC32-2DD0D0C7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docs/agents/news_rag_pipeline.html, docs/agents/qual_agent_flow.html 기반</a:t>
            </a:r>
          </a:p>
        </p:txBody>
      </p:sp>
      <p:sp>
        <p:nvSpPr>
          <p:cNvPr id="30" name="surface">
            <a:extLst xmlns:a="http://schemas.openxmlformats.org/drawingml/2006/main">
              <a:ext uri="{FF2B5EF4-FFF2-40B4-BE49-F238E27FC236}">
                <a16:creationId xmlns:a16="http://schemas.microsoft.com/office/drawing/2014/main" id="{677B9FFE-DC2B-44E2-9411-B9D3E21F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38550"/>
            <a:ext cx="333375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073B28A8-183B-4EF1-8D88-7E45CA5F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2905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rPr>
              <a:t>핵심 가치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1FD48A56-68B1-4B0E-8AC9-18F546B7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719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출처 없는 요약이 아니라 검색 근거를 Qual evidence로 전달</a:t>
            </a:r>
          </a:p>
        </p:txBody>
      </p:sp>
      <p:sp>
        <p:nvSpPr>
          <p:cNvPr id="33" name="surface">
            <a:extLst xmlns:a="http://schemas.openxmlformats.org/drawingml/2006/main">
              <a:ext uri="{FF2B5EF4-FFF2-40B4-BE49-F238E27FC236}">
                <a16:creationId xmlns:a16="http://schemas.microsoft.com/office/drawing/2014/main" id="{904294BF-0C62-4DBC-A186-D5ECAA66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38550"/>
            <a:ext cx="333375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C477A978-93E8-4F60-93B8-4DA676DA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 b="1">
                <a:solidFill>
                  <a:srgbClr val="F59E0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59E0B"/>
                </a:solidFill>
                <a:latin typeface="Malgun Gothic"/>
                <a:ea typeface="Malgun Gothic"/>
                <a:cs typeface="Malgun Gothic"/>
              </a:rPr>
              <a:t>안정성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22692A57-E7C6-44F7-AFAC-4C24661C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데모에서 뉴스 fallback이 보이면 DB/임베딩 연결 실패 신호로 보고 연결 상태를 점검</a:t>
            </a:r>
          </a:p>
        </p:txBody>
      </p:sp>
      <p:sp>
        <p:nvSpPr>
          <p:cNvPr id="36" name="surface">
            <a:extLst xmlns:a="http://schemas.openxmlformats.org/drawingml/2006/main">
              <a:ext uri="{FF2B5EF4-FFF2-40B4-BE49-F238E27FC236}">
                <a16:creationId xmlns:a16="http://schemas.microsoft.com/office/drawing/2014/main" id="{2DE4C6F1-D521-41F4-9A80-0F4B1D69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0E6BF3B0-89FA-4840-9952-47B3EF77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97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D6DAA999-7B0D-4DF1-B283-335306C1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8162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Qual Agent는 '뉴스를 읽어준다'가 아니라, 검색 가능한 근거를 만들어 정성 리스크로 변환한다.</a:t>
            </a:r>
          </a:p>
        </p:txBody>
      </p:sp>
    </p:spTree>
    <p:extLst>
      <p:ext uri="{BB962C8B-B14F-4D97-AF65-F5344CB8AC3E}">
        <p14:creationId xmlns:p14="http://schemas.microsoft.com/office/powerpoint/2010/main" val="17225561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373EA7D9-E918-4972-A44A-140F30D9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00FD0E47-FD10-4151-8162-BF7A1FFD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C7EF5A6-9E05-4212-805E-7CE0A369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CB752BB-0428-488E-AA7A-FE7AAC18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573A8B1-382A-4F68-B238-F0966BE4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Competitor Agent: 같은 섹터 안에서 상대 위치를 계산한다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25EFBC6-D27D-475A-8183-2A353F12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대상 종목의 peer를 찾고, 밸류에이션·수익성·성장성·재무 안정성을 비교합니다.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E8055233-E798-4446-B9B5-379B1F4B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4F8EF7"/>
            </a:solidFill>
            <a:prstDash val="solid"/>
          </a:ln>
        </p:spPr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2165FE30-FF16-4529-BD3D-AF044016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94365E7-8CF5-49BF-81D5-58C163BE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EE42DEC-1DC9-4FFA-8B00-F1030058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Curator가 확정한 sector와 stock_code 수신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254F5682-8314-47DE-86AD-A9C18F47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AF3501EE-96E8-4E6F-B3B3-87EE0215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D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A70757B-399D-460A-9812-48701A25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455F824-2CF1-410A-A202-578416C3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company, stock_price, financial_statement에서 peer 후보 조회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A4F6BD90-9FA8-4FD2-A14E-F452A4A2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144045F0-7573-4CF6-BF66-EDF666A6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D4A80AF-B478-4DA6-9191-B83C2D5F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DE0DAA9-6F41-427C-9804-C6DA46C2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시총 band와 복합 유사도로 비교군 선정</a:t>
            </a:r>
          </a:p>
        </p:txBody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377032B8-42BD-437B-959A-CF2EB084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113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8E2F5365-43B5-4985-8B4F-578785A4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3EFE0E8-CF25-46D6-918B-3A339152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FA4CAAF-E97B-40BA-9E12-391FD261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상대 위치 score, warnings, peer_summary 반환</a:t>
            </a:r>
          </a:p>
        </p:txBody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92F7CB19-9AA8-490F-BE67-1C72FA4F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2C057C6-89FF-457D-A026-CE98FC4D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rPr>
              <a:t>3단 경로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B038620-C9BB-4E77-B9B8-256D98A9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DB 성공 → MCP 실시간 시세 → 데모 최후 보루 mock</a:t>
            </a:r>
          </a:p>
        </p:txBody>
      </p:sp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8982F0DC-C176-4A67-BF28-A8B8C5FF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D3342E72-084F-4D06-AFEF-6A58EE28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계산 기준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5CA0A907-5CC8-46E2-A946-D8A5730E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PER/PBR/ROE/성장률/마진/부채비율/데이터 품질</a:t>
            </a:r>
          </a:p>
        </p:txBody>
      </p:sp>
      <p:sp>
        <p:nvSpPr>
          <p:cNvPr id="29" name="surface">
            <a:extLst xmlns:a="http://schemas.openxmlformats.org/drawingml/2006/main">
              <a:ext uri="{FF2B5EF4-FFF2-40B4-BE49-F238E27FC236}">
                <a16:creationId xmlns:a16="http://schemas.microsoft.com/office/drawing/2014/main" id="{4207664C-A40D-4472-B403-FCF16A18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99755D35-2070-446E-962B-5F4CF129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rPr>
              <a:t>역할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54B5B3D1-80F8-4528-9296-EDAC048D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사용자에게 '내 종목이 업종 내 어디쯤인지' 설명</a:t>
            </a:r>
          </a:p>
        </p:txBody>
      </p:sp>
      <p:sp>
        <p:nvSpPr>
          <p:cNvPr id="32" name="surface">
            <a:extLst xmlns:a="http://schemas.openxmlformats.org/drawingml/2006/main">
              <a:ext uri="{FF2B5EF4-FFF2-40B4-BE49-F238E27FC236}">
                <a16:creationId xmlns:a16="http://schemas.microsoft.com/office/drawing/2014/main" id="{DC772538-6B64-47E4-AFC0-8B8E0866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5269065A-0E8C-4157-AB90-0C6348A9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97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070DE3FF-CA15-4980-A8F5-05CA0B5E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8162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Peer 비교를 분리했기 때문에 단일 종목 분석이 업종 맥락 없이 흐르는 문제를 줄인다.</a:t>
            </a:r>
          </a:p>
        </p:txBody>
      </p:sp>
    </p:spTree>
    <p:extLst>
      <p:ext uri="{BB962C8B-B14F-4D97-AF65-F5344CB8AC3E}">
        <p14:creationId xmlns:p14="http://schemas.microsoft.com/office/powerpoint/2010/main" val="13201492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49D31007-017C-44F2-9A05-F001DD74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8D9CBD4F-AAB1-4DC1-ACEC-7F447B3E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A360E28-4618-4250-A481-DBE7399A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77BBC2D-3ACA-49A7-A315-39A4F70A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A005920-6C72-4DFD-AC58-AAC93EBB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Macro Agent: 개별 종목을 거시 환경 안에 놓는다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35DCC5E-ACEB-4BDE-91D2-535BA872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금리, 환율, CPI, GDP, 뉴스심리지수 등 거시 지표를 업종 영향으로 해석합니다.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32F55FC4-21F9-4731-BAC0-1A08936E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4F8EF7"/>
            </a:solidFill>
            <a:prstDash val="solid"/>
          </a:ln>
        </p:spPr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9C80D07C-B488-4DB1-B554-0A248126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CD9B46F-C60C-4509-8395-E9B05566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5DCF72F-1196-4E80-9EEE-4BC643BB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sector와 as_of_date 기준 macro context 조회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892516AA-C33E-4182-BCC8-809F8835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21812E8B-DB28-4581-8ED4-CE7E0F3F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D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D31A436-7DF6-4EF5-A6F4-B7FE7C2E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685C670-6116-4E1A-917D-155F0030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금리·물가·성장·환율·심리 지표를 정규화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A620174E-C399-4ABF-912B-5D6725FE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44F69981-DCC2-4BE8-837F-85EF3A7A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7ED4A77-4D58-4C87-922D-5674CFC3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3442587-7B8B-4827-952A-A59A1530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업종별 민감도에 따라 score와 risks 계산</a:t>
            </a:r>
          </a:p>
        </p:txBody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9D636517-980D-4F5B-B03F-D06D2962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113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8351F191-EF5F-4DAE-93F0-3B3EB733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2766CFF-4065-444C-A32F-E100F051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B938EB8-FEB8-47D5-A926-34621338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portfolio/sector 분석 또는 sector가 있는 단일 종목에서 조건부 실행</a:t>
            </a:r>
          </a:p>
        </p:txBody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D626DF5F-086A-4E4B-AF1C-B168A0F4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C940A8E-04E0-49D4-B538-F55BD4B4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rPr>
              <a:t>조건부 실행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46B4FB4-76FB-4F63-AD13-1FB3E1FD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Classifier worker_plan에 macro가 있을 때만 Send</a:t>
            </a:r>
          </a:p>
        </p:txBody>
      </p:sp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9C7F2A17-C113-42EE-BA2D-31691694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95C6933-C0CE-44B9-8B80-75071C01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해석 방향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50D41A4-9122-4307-A775-D5B59688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금리/환율/물가가 업종 수익성에 미치는 압력 설명</a:t>
            </a:r>
          </a:p>
        </p:txBody>
      </p:sp>
      <p:sp>
        <p:nvSpPr>
          <p:cNvPr id="29" name="surface">
            <a:extLst xmlns:a="http://schemas.openxmlformats.org/drawingml/2006/main">
              <a:ext uri="{FF2B5EF4-FFF2-40B4-BE49-F238E27FC236}">
                <a16:creationId xmlns:a16="http://schemas.microsoft.com/office/drawing/2014/main" id="{068F0CFE-0D29-4880-859D-99FB14AE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E0FA681A-0B5A-4037-97BB-76C5AEAD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rPr>
              <a:t>Fallback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800B37EB-5E2F-4392-A344-14B4FABD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macro DB/tool 실패 시 보수적 지표와 warning 반환</a:t>
            </a:r>
          </a:p>
        </p:txBody>
      </p:sp>
      <p:sp>
        <p:nvSpPr>
          <p:cNvPr id="32" name="surface">
            <a:extLst xmlns:a="http://schemas.openxmlformats.org/drawingml/2006/main">
              <a:ext uri="{FF2B5EF4-FFF2-40B4-BE49-F238E27FC236}">
                <a16:creationId xmlns:a16="http://schemas.microsoft.com/office/drawing/2014/main" id="{475148F9-56EA-407A-8149-8B87F09F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0F0A68C2-A737-4C80-BD37-67DF8BA3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97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7C5D8C3D-9153-4CCC-8028-74D1D64B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8162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Macro는 개별 종목 판단이 시장 환경과 분리되어 보이는 문제를 보완한다.</a:t>
            </a:r>
          </a:p>
        </p:txBody>
      </p:sp>
    </p:spTree>
    <p:extLst>
      <p:ext uri="{BB962C8B-B14F-4D97-AF65-F5344CB8AC3E}">
        <p14:creationId xmlns:p14="http://schemas.microsoft.com/office/powerpoint/2010/main" val="7627837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AE083AB9-BE89-4F4C-A7DE-7C36727D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6873C15E-A90C-4426-AAE9-D62F5A40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BBBD14B-0E41-4474-B9C0-6D4CA56E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C3D93E8-B26C-4FD3-AC5C-C36AAE30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0E372DB-0DDF-47E8-BF25-9C814619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Strategist·InvestmentAnalyst: 근거를 포트폴리오 맥락으로 합성한다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4192961-2262-43BB-AAC1-1837EA0D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Worker 결과를 단순 평균하지 않고, 사용자 보유 비중과 투자성향을 반영해 최종 분석 신호를 만듭니다.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F4B20F29-0047-4BE7-8334-A7F2A29F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4F8EF7"/>
            </a:solidFill>
            <a:prstDash val="solid"/>
          </a:ln>
        </p:spPr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FD8C023-F32E-431B-8C46-C9EB46F3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3122583-7984-4F96-B203-69459A14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F8A5C92-7A2F-4304-9261-40FD4C05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Quant·Qual·Competitor·Macro 결과 join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F6F80284-61A5-4994-A5ED-633E39B4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3700C468-F6A9-4EF6-8437-0A4F191D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D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401CC13-BAC6-4484-B744-FB47A9A1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853EB77-C6E4-44CF-BC20-2A96DB04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Macro 포함 여부에 따라 가중치 재조정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067ED50D-7D3B-4F70-AFB5-AB217C65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28D59500-A058-42D0-9364-E8E0A6BA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6EB217E-1EB6-4B1C-A566-0B76D03E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C33677E-A481-4637-A927-9A32B3FA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보유 비중·위험성향·투자기간으로 suitability 보정</a:t>
            </a:r>
          </a:p>
        </p:txBody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CA201623-EECE-41A1-B262-70AC330F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113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7232D24B-EAC4-4A2A-85C8-023E6317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7402C50-5BC7-4E9B-B361-2509C113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9591B11-2690-466F-A77B-ADA81850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sLLM/GLM이 thesis와 risk narrative를 보완</a:t>
            </a:r>
          </a:p>
        </p:txBody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CE69DF46-E506-41FE-9E4A-875A8F37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6601F6C-8A25-49BB-8F1A-EE935568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rPr>
              <a:t>가중 합성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D6F0717-B174-406E-B7DB-0E1C4F49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Quant 40~45%, Qual 25~30%, Competitor 20~25%, Macro 15%</a:t>
            </a:r>
          </a:p>
        </p:txBody>
      </p:sp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0E164230-D324-45B2-ADF0-112FEFFA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5DD236E-7BDA-4B2B-ACC6-413F1862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개인화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8B01B6B2-A2A0-485C-B0C4-89975A3A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같은 종목이라도 보유 비중과 위험성향에 따라 suitability가 달라짐</a:t>
            </a:r>
          </a:p>
        </p:txBody>
      </p:sp>
      <p:sp>
        <p:nvSpPr>
          <p:cNvPr id="29" name="surface">
            <a:extLst xmlns:a="http://schemas.openxmlformats.org/drawingml/2006/main">
              <a:ext uri="{FF2B5EF4-FFF2-40B4-BE49-F238E27FC236}">
                <a16:creationId xmlns:a16="http://schemas.microsoft.com/office/drawing/2014/main" id="{209A6FE4-98B3-4007-A169-65AD78CC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7B0A7AEF-967B-4F81-A7B7-26B20425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rPr>
              <a:t>Fallback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A9A20D71-57AA-41BB-BD3E-7ABD977A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LLM 실패 시 rule-based Strategist 결과를 유지</a:t>
            </a:r>
          </a:p>
        </p:txBody>
      </p:sp>
      <p:sp>
        <p:nvSpPr>
          <p:cNvPr id="32" name="surface">
            <a:extLst xmlns:a="http://schemas.openxmlformats.org/drawingml/2006/main">
              <a:ext uri="{FF2B5EF4-FFF2-40B4-BE49-F238E27FC236}">
                <a16:creationId xmlns:a16="http://schemas.microsoft.com/office/drawing/2014/main" id="{8A1FDBD3-8B72-45E2-AAF6-94646244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29648DFA-7F67-439F-A745-D2849B31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97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2E96A00F-4E9E-4481-912D-F1B78B0D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8162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개인화는 중간 근거를 바꾸는 것이 아니라, 최종 해석과 적합도에서 반영한다.</a:t>
            </a:r>
          </a:p>
        </p:txBody>
      </p:sp>
    </p:spTree>
    <p:extLst>
      <p:ext uri="{BB962C8B-B14F-4D97-AF65-F5344CB8AC3E}">
        <p14:creationId xmlns:p14="http://schemas.microsoft.com/office/powerpoint/2010/main" val="20304077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7DB26780-5878-4655-B381-0C11DF17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D7F28921-C5FA-4127-89EB-9C5333B0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28EB4001-A6E9-430C-9376-F9F36733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4FB8FCB-ABE3-4201-BA5E-37A1F523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684AB09-3650-416E-A2B7-8E14E15F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Guardrail·ResultRenderer: 안전하게 보여주는 마지막 단계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73AB3F6-9C3D-44BE-877F-15CD0C57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최종 출력 전 PII, 욕설, 수익 보장, 투자 권유성 표현, 근거 부족을 점검하고 Tier 결과로 렌더링합니다.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6A6A76DA-6F05-4B79-835C-1E7BE277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4F8EF7"/>
            </a:solidFill>
            <a:prstDash val="solid"/>
          </a:ln>
        </p:spPr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B8082793-30D3-48AF-B59E-FA18A6AC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CDE5D36-B87B-4CF0-86CF-30DCAA48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CE502E7-B943-4345-BFB2-DC0640C4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Strategist 결과를 Guardrail 7게이트로 검사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1F221C36-404A-4E6D-B456-6CAA5BC5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C4A5C7C2-DA2F-49F0-9565-3E985986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D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3ECB6B3-FFE7-4DF1-9C4C-41DD6C2B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F08AECB-2F32-4009-AFC1-242FFBB2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PII나 금지 표현 발견 시 보수적 HOLD와 마스킹 적용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4DF80DEF-8250-4EFE-A204-A9E7C85A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09FF5A03-F68A-4655-8169-D1D98A7D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2B719C1-5FFD-406B-8CB6-B0934529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1ED6930-25A1-4E1A-8A3E-F6190E79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근거 부족은 recomposer revision loop로 최대 2회 재합성</a:t>
            </a:r>
          </a:p>
        </p:txBody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A8703435-2044-4963-AB4E-604014D0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113" y="1752600"/>
            <a:ext cx="260508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230943DF-3B1B-4484-8B8F-3D04E5CA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943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1A9B0AB-F7E5-41E5-B976-3110A6FE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000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84604A9-6B61-455F-AD9E-164C5FF1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41935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ResultRenderer가 Tier 1/2/3와 다운로드 산출물 구조화</a:t>
            </a:r>
          </a:p>
        </p:txBody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8F0B05D9-9CD5-4034-A603-7ED4EAA2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B42CED4-3513-47CA-AD6B-C1970353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4F8EF7"/>
                </a:solidFill>
                <a:latin typeface="Malgun Gothic"/>
                <a:ea typeface="Malgun Gothic"/>
                <a:cs typeface="Malgun Gothic"/>
              </a:rPr>
              <a:t>Safety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4043664-2BCD-46A3-A5B8-D87CEC25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투자 권유·수익 보장·민감정보 노출을 최종 차단</a:t>
            </a:r>
          </a:p>
        </p:txBody>
      </p:sp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211B5E33-B942-4194-8AF8-0CAC2321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6204D1F8-9089-4F05-8F4C-9EEAD624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Transparency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86A97DAF-A54B-4719-8438-03B2EA00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fallback과 근거 부족은 사용자 경고로 승격</a:t>
            </a:r>
          </a:p>
        </p:txBody>
      </p:sp>
      <p:sp>
        <p:nvSpPr>
          <p:cNvPr id="29" name="surface">
            <a:extLst xmlns:a="http://schemas.openxmlformats.org/drawingml/2006/main">
              <a:ext uri="{FF2B5EF4-FFF2-40B4-BE49-F238E27FC236}">
                <a16:creationId xmlns:a16="http://schemas.microsoft.com/office/drawing/2014/main" id="{C97496BD-4FA6-4EF9-9EA4-BF2DF029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67100"/>
            <a:ext cx="33337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5EB23F70-F7F1-42CC-91E0-12ECAC04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766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rPr>
              <a:t>Output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27DF724D-63A5-4525-9194-4C2C2D6E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57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한 줄 신호, 근거 카드, 상세 리포트로 분리</a:t>
            </a:r>
          </a:p>
        </p:txBody>
      </p:sp>
      <p:sp>
        <p:nvSpPr>
          <p:cNvPr id="32" name="surface">
            <a:extLst xmlns:a="http://schemas.openxmlformats.org/drawingml/2006/main">
              <a:ext uri="{FF2B5EF4-FFF2-40B4-BE49-F238E27FC236}">
                <a16:creationId xmlns:a16="http://schemas.microsoft.com/office/drawing/2014/main" id="{FF0F9008-7822-4F58-8191-79A4EACF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BF159E43-3BF3-40F6-BF83-C0E8E352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97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B89C4499-9C4D-45F7-8D30-96B812E3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8162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좋은 분석보다 중요한 것은 위험한 표현을 그대로 내보내지 않는 구조다.</a:t>
            </a:r>
          </a:p>
        </p:txBody>
      </p:sp>
    </p:spTree>
    <p:extLst>
      <p:ext uri="{BB962C8B-B14F-4D97-AF65-F5344CB8AC3E}">
        <p14:creationId xmlns:p14="http://schemas.microsoft.com/office/powerpoint/2010/main" val="13177439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91A8F719-FE9E-4F4B-B81F-5544364E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12DED714-2449-4092-B7FB-0F3E896C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AD0952A-152F-47D8-AE85-60DCD5CF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6601E69-029D-43E8-81F9-249247FD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53D3F27-04A0-4427-BC5E-ADACD34B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시연은 라이브 대신 영상으로 안정적으로 보여준다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C3E6DF4-FEEA-4BA0-BEF1-458F97E6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라이브 조작 대신 준비된 영상으로 사용자 흐름을 안정적으로 전달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AE5E948A-0E42-49D6-9AE6-6D2F8B19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667500" cy="3657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6172A"/>
          </a:solidFill>
          <a:ln xmlns:a="http://schemas.openxmlformats.org/drawingml/2006/main" w="9525">
            <a:solidFill>
              <a:srgbClr val="275078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865e0e7504206"/>
          <a:srcRect xmlns:a="http://schemas.openxmlformats.org/drawingml/2006/main" l="13643" t="0" r="136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1790700"/>
            <a:ext cx="3028950" cy="2343150"/>
          </a:xfrm>
          <a:prstGeom xmlns:a="http://schemas.openxmlformats.org/drawingml/2006/main" prst="roundRect">
            <a:avLst>
              <a:gd name="adj" fmla="val 7317"/>
            </a:avLst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6dccaedf1f4972"/>
          <a:srcRect xmlns:a="http://schemas.openxmlformats.org/drawingml/2006/main" l="13643" t="0" r="136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0" y="1790700"/>
            <a:ext cx="3028950" cy="2343150"/>
          </a:xfrm>
          <a:prstGeom xmlns:a="http://schemas.openxmlformats.org/drawingml/2006/main" prst="roundRect">
            <a:avLst>
              <a:gd name="adj" fmla="val 7317"/>
            </a:avLst>
          </a:prstGeom>
        </p:spPr>
      </p:pic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9B473378-129B-420B-8D2B-7FA79647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29100"/>
            <a:ext cx="15621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A35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3A7B297-826A-4CC4-B9C8-136EFD1B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6245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▶ DEMO VIDEO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E8E8635F-9568-4A49-9812-9EC4DE0F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62100"/>
            <a:ext cx="37719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63B5E"/>
            </a:solidFill>
            <a:prstDash val="solid"/>
          </a:ln>
        </p:spPr>
        <p:txBody>
          <a:bodyPr xmlns:a="http://schemas.openxmlformats.org/drawingml/2006/main" lIns="152400" tIns="123825" rIns="152400" bIns="9525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0:00 온보딩: 투자 목적·기간·손실 감내 등 7단계 입력</a:t>
            </a:r>
          </a:p>
        </p:txBody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E27F03FF-A951-4FC7-B643-5B28BD36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43150"/>
            <a:ext cx="37719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63B5E"/>
            </a:solidFill>
            <a:prstDash val="solid"/>
          </a:ln>
        </p:spPr>
        <p:txBody>
          <a:bodyPr xmlns:a="http://schemas.openxmlformats.org/drawingml/2006/main" lIns="152400" tIns="123825" rIns="152400" bIns="9525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0:25 포트폴리오: 보유 종목, 평단, 현금 비중 입력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95C373B8-4ECC-4CB5-8AF4-71C46668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24200"/>
            <a:ext cx="37719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63B5E"/>
            </a:solidFill>
            <a:prstDash val="solid"/>
          </a:ln>
        </p:spPr>
        <p:txBody>
          <a:bodyPr xmlns:a="http://schemas.openxmlformats.org/drawingml/2006/main" lIns="152400" tIns="123825" rIns="152400" bIns="9525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0:45 Agent 진행: Quant·Qual·Competitor·Macro 진행 상태 확인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049B02C2-5157-41AF-9EA9-13853C76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05250"/>
            <a:ext cx="37719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63B5E"/>
            </a:solidFill>
            <a:prstDash val="solid"/>
          </a:ln>
        </p:spPr>
        <p:txBody>
          <a:bodyPr xmlns:a="http://schemas.openxmlformats.org/drawingml/2006/main" lIns="152400" tIns="123825" rIns="152400" bIns="9525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1:15 결과: HOLD/신뢰도/포트폴리오 적합도와 근거 카드 확인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E8D4B228-34CB-4BA8-9202-678E1D74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D11A79E-C4DF-4DB3-8B6E-880ACB98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292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7B9B3F2-A948-4823-9BE7-B127A3CB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9117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발표장 리스크를 줄이기 위해 라이브 조작은 최소화하고, 준비된 시연 영상으로 전체 사용자 흐름을 보여준다.</a:t>
            </a:r>
          </a:p>
        </p:txBody>
      </p:sp>
    </p:spTree>
    <p:extLst>
      <p:ext uri="{BB962C8B-B14F-4D97-AF65-F5344CB8AC3E}">
        <p14:creationId xmlns:p14="http://schemas.microsoft.com/office/powerpoint/2010/main" val="28281568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13A64260-FABF-4BC5-8D43-C66CBBE9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9EFF670E-C236-4233-BA72-E8D1114D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224F069-1BA1-4CA6-A728-6E540D0A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7A5132B-506B-4A2F-8CAD-9DA75018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406A8C3-C2E3-4FB8-B33B-ABD278B2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stock-agent의 차별점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AEC1AAE-6B60-4E57-974F-6AB85D32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기능 나열보다 평가 가능성과 실패 대응이 차별점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27006887-6E40-4B1C-AFB8-6F7BFA8A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6185D13-47E4-4E7C-A8A8-42D147E9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B1D4F3E-3F34-43F4-8ED7-0890D8FF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1C077F2-41D1-4BBC-AF0B-378F9C32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28775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포트폴리오 맥락: 보유 종목·현금 비중·투자성향을 함께 해석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1264C4C8-530A-49E8-B988-2842EC4E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D77C15D1-73D4-4D2A-A8C7-49E0DED0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D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6D9A51D-3F33-476C-AEF3-9A5B29E9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05EBE61-6C52-4C01-B766-2EC7CB79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95525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도구와 LLM 분리: 숫자 계산은 Tool, 설명과 합성은 LLM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29EDA18F-1198-445F-A72C-6E2C4BE8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82040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66AA9C39-0177-4AF3-B576-3B9CC809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E65B47D-E179-472C-8030-9EB69D85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24673CF-C8E3-4DD6-B9D9-AB82BF89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62275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Agent별 실패 격리: 부분 실패를 warning과 fallback으로 흡수</a:t>
            </a:r>
          </a:p>
        </p:txBody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82AAF210-8734-4E19-8BD2-6B18D6D8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82040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40851824-5D6F-43B6-B81C-47FA9B0C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B58EF5A-D0E8-45A0-90EE-987297A0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FB2F4C3-966A-4EE4-836E-5C9DCCFD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29025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검색 근거 중심: 뉴스·공시를 RAG evidence로 변환해 출처 없는 요약을 줄임</a:t>
            </a:r>
          </a:p>
        </p:txBody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05CF6133-4DCF-4ADA-8E89-99AE0EA0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082040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1DCEE586-B595-410D-8620-07D17005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34FDB76-63C4-47C9-925C-947498A9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2C30BA3F-419C-4353-8215-5F0645B3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95775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금융 안전장치: Guardrail과 재합성 루프로 위험 표현을 완화</a:t>
            </a:r>
          </a:p>
        </p:txBody>
      </p:sp>
      <p:sp>
        <p:nvSpPr>
          <p:cNvPr id="27" name="surface">
            <a:extLst xmlns:a="http://schemas.openxmlformats.org/drawingml/2006/main">
              <a:ext uri="{FF2B5EF4-FFF2-40B4-BE49-F238E27FC236}">
                <a16:creationId xmlns:a16="http://schemas.microsoft.com/office/drawing/2014/main" id="{4ACF816C-1245-424D-BBBA-C21AB32A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B005306F-78B8-4C2F-A651-230DB69C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97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D6496373-5407-4D96-848E-ABE73579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8162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우리는 추천 엔진을 만든 것이 아니라, 개인투자자의 판단 근거를 구조화하는 분석 보조 시스템을 만들었다.</a:t>
            </a:r>
          </a:p>
        </p:txBody>
      </p:sp>
    </p:spTree>
    <p:extLst>
      <p:ext uri="{BB962C8B-B14F-4D97-AF65-F5344CB8AC3E}">
        <p14:creationId xmlns:p14="http://schemas.microsoft.com/office/powerpoint/2010/main" val="22315889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117DBFE4-6D79-44FB-99F5-9FC3BC75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75A6CDFB-C7C5-4388-861B-06F355D7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28DF925-9823-4A48-A2E9-CE5225D2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264563F-C682-4D34-8013-14CFEECC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420EA0D-2FD4-48A5-84F3-8AC6F3B9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상업성: 개인투자자용 PB-lite 분석 보조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C9B1886-FB1D-4137-95AF-E2C4E2FF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추천 서비스가 아니라 설명 가능한 분석 보조 모듈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EB4F6EAC-EDA7-4EB3-9A19-8F781DF2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CD0B9617-31FD-481B-BC29-B7C57CAB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92248AB-03B8-4422-9ED4-D1C9F8C2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2B15335-1CEC-4742-938F-7A3F1CF9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28775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B2C: 개인투자자의 보유 종목 점검과 정기 리포트 생성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2BA6BFBF-8FA3-48C5-A80B-929FBC9C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2442A8EC-05B2-40A1-ADEC-1E6CFF73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D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939BECE-6795-4FD5-B486-E47DDE0B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E7B086F-140C-4449-8AA4-2F4EF8AC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95525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B2B: 증권·핀테크 앱에 설명형 AI 분석 모듈로 탑재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681C56BD-B625-40C8-B4F1-11561F62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82040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67EDB04E-84C7-4D13-A888-7B6A21D1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C9AF792-6FE0-403A-BC7A-7B5FFD0D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0A3BACA-10DC-4888-95E4-95D58021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62275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교육: 투자 판단 과정을 설명하는 실습형 튜터</a:t>
            </a:r>
          </a:p>
        </p:txBody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141BB33A-D64D-4632-BD25-97E07FB3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82040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5A358BE5-7874-452B-81FD-DB1B1C28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6713724-0810-4A41-846D-A023B705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CB75097-6D86-4CC0-A121-A7E37949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29025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리서치 보조: 뉴스·공시·peer 요약 자동화</a:t>
            </a:r>
          </a:p>
        </p:txBody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F82A89FB-609F-467E-85E4-D15BE10B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082040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A3108AAD-EE04-4928-B365-A69A8178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3A73CB8-0589-4B95-A443-A89BFEF8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A918D28-FFA5-4B06-89E6-BEB2EE25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95775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수익화: 프리미엄 리포트, 포트폴리오 모니터링, API 모듈</a:t>
            </a:r>
          </a:p>
        </p:txBody>
      </p:sp>
      <p:sp>
        <p:nvSpPr>
          <p:cNvPr id="27" name="surface">
            <a:extLst xmlns:a="http://schemas.openxmlformats.org/drawingml/2006/main">
              <a:ext uri="{FF2B5EF4-FFF2-40B4-BE49-F238E27FC236}">
                <a16:creationId xmlns:a16="http://schemas.microsoft.com/office/drawing/2014/main" id="{FB4EAB7B-0615-47D3-A214-7667A68A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011A5E1-2F16-4835-9C69-92E601F3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97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8B181ADD-7BD8-4C68-BAB9-16C9A121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8162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규제 리스크를 줄이기 위해 자동매매나 확정 추천이 아니라 설명 가능한 분석 보조로 포지셔닝한다.</a:t>
            </a:r>
          </a:p>
        </p:txBody>
      </p:sp>
    </p:spTree>
    <p:extLst>
      <p:ext uri="{BB962C8B-B14F-4D97-AF65-F5344CB8AC3E}">
        <p14:creationId xmlns:p14="http://schemas.microsoft.com/office/powerpoint/2010/main" val="134999234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13E2C6A5-0DD4-420E-A973-5FA0EA96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608B4D63-F9D5-4EE9-802F-63807598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B4EE314-A901-408A-AB72-B6760677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7"/>
          </a:solidFill>
          <a:ln xmlns:a="http://schemas.openxmlformats.org/drawingml/2006/main" w="9525">
            <a:solidFill>
              <a:srgbClr val="27D3D0"/>
            </a:solidFill>
            <a:prstDash val="solid"/>
          </a:ln>
        </p:spPr>
        <p:txBody>
          <a:bodyPr xmlns:a="http://schemas.openxmlformats.org/drawingml/2006/main" lIns="114300" tIns="38100" rIns="114300" bIns="3810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PoCaT BDAI 12기 1조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27545F7-FE2F-41AF-B74C-AFF91AAE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3AAABBF-9237-46EB-ABE0-4C28C182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한계와 결론: 더 정확한 근거 연결이 다음 단계다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E62A86C-2C3B-4CFC-AF7A-8DD40092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93A4C4"/>
                </a:solidFill>
                <a:latin typeface="Malgun Gothic"/>
                <a:ea typeface="Malgun Gothic"/>
                <a:cs typeface="Malgun Gothic"/>
              </a:rPr>
              <a:t>한계를 숨기지 않고 다음 개선 방향과 최종 메시지로 연결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3E95CD55-707B-45DD-B667-1EFB4AD9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324475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6BB1880-BFE7-4A71-BBE3-3ED51D49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3DD25EF-D648-4EF7-9076-21531A54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27BB937-6A46-4731-94D2-36521485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43075"/>
            <a:ext cx="45053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근거 품질: RAG 인용 스팬, context gating, reranker 운영 기준 고도화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F6F47C08-CAC2-448A-8C96-B25CAC35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581150"/>
            <a:ext cx="5324475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477EAF31-F592-4FF9-9F74-7DEB720A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7526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D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1B732A8-1318-4339-AB40-9D241FEA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809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19E83EA-8F2D-47AF-AB46-C7479DD0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43075"/>
            <a:ext cx="45053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데이터 영속화: users·holdings·analysis_cache 테이블과 이력 관리 필요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5BB47CD4-98E0-4984-950D-839A432B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5324475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184F6F38-4092-4E8B-BE09-0BAC24F7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64E8CD3-1813-4A8A-942C-CD128818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016B135-8AC6-4423-8F41-0351057C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57525"/>
            <a:ext cx="45053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커버리지: 실데이터 종목 범위와 뉴스/공시 수집 안정성 확대</a:t>
            </a:r>
          </a:p>
        </p:txBody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05660B97-056D-4006-BEF4-273E4360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895600"/>
            <a:ext cx="5324475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F1B2E"/>
          </a:solidFill>
          <a:ln xmlns:a="http://schemas.openxmlformats.org/drawingml/2006/main" w="9525">
            <a:solidFill>
              <a:srgbClr val="294967"/>
            </a:solidFill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43CBD00F-0E48-4C23-B133-C500FA52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670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8DE7107-C160-495D-9282-157E40FB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1242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5E6C91A-71D5-47CC-9C18-713ECB04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57525"/>
            <a:ext cx="45053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제품화: PB 리포트 PDF/Excel, 알림, 운영 비용 제어 필요</a:t>
            </a:r>
          </a:p>
        </p:txBody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FD73B57D-AE91-414C-8B4D-ECF540FF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9525">
            <a:solidFill>
              <a:srgbClr val="234663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A72ECC0-B57F-43F8-A043-CC3A32EC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244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D3D0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C76B44E-06A8-4B2C-95CB-777FC993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286375"/>
            <a:ext cx="912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EDF5FF"/>
                </a:solidFill>
                <a:latin typeface="Malgun Gothic"/>
                <a:ea typeface="Malgun Gothic"/>
                <a:cs typeface="Malgun Gothic"/>
              </a:rPr>
              <a:t>stock-agent는 투자 판단을 자동화한 것이 아니라, 판단에 필요한 근거를 Agent 구조로 분해하고 다시 합성했다.</a:t>
            </a:r>
          </a:p>
        </p:txBody>
      </p:sp>
    </p:spTree>
    <p:extLst>
      <p:ext uri="{BB962C8B-B14F-4D97-AF65-F5344CB8AC3E}">
        <p14:creationId xmlns:p14="http://schemas.microsoft.com/office/powerpoint/2010/main" val="19006057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2026-06-26T03:39:34.7630000Z</dcterms:created>
  <dcterms:modified xsi:type="dcterms:W3CDTF">2026-06-26T03:39:34.7630000Z</dcterms:modified>
</coreProperties>
</file>